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467" r:id="rId2"/>
    <p:sldId id="469" r:id="rId3"/>
    <p:sldId id="472" r:id="rId4"/>
    <p:sldId id="470" r:id="rId5"/>
    <p:sldId id="493" r:id="rId6"/>
    <p:sldId id="477" r:id="rId7"/>
    <p:sldId id="474" r:id="rId8"/>
    <p:sldId id="495" r:id="rId9"/>
    <p:sldId id="259" r:id="rId10"/>
    <p:sldId id="274" r:id="rId11"/>
    <p:sldId id="481" r:id="rId12"/>
    <p:sldId id="479" r:id="rId13"/>
    <p:sldId id="494" r:id="rId14"/>
    <p:sldId id="484" r:id="rId15"/>
    <p:sldId id="486" r:id="rId16"/>
    <p:sldId id="490" r:id="rId17"/>
    <p:sldId id="491" r:id="rId18"/>
    <p:sldId id="49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13" autoAdjust="0"/>
  </p:normalViewPr>
  <p:slideViewPr>
    <p:cSldViewPr snapToGrid="0" snapToObjects="1">
      <p:cViewPr>
        <p:scale>
          <a:sx n="100" d="100"/>
          <a:sy n="100" d="100"/>
        </p:scale>
        <p:origin x="95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48B32-384E-4CE1-A037-D20B29FAB1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05155-F6A5-441C-B65E-14B7E9EAD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</a:t>
            </a:r>
          </a:p>
          <a:p>
            <a:r>
              <a:rPr lang="en-US" dirty="0"/>
              <a:t>Welcome to my presentation on </a:t>
            </a:r>
            <a:r>
              <a:rPr lang="en-US" b="1" dirty="0"/>
              <a:t>“Deep Learning for Software Vulnerability Detection: A Case Study on C/C++ Projects.”</a:t>
            </a:r>
            <a:endParaRPr lang="en-US" dirty="0"/>
          </a:p>
          <a:p>
            <a:r>
              <a:rPr lang="en-US" dirty="0"/>
              <a:t>In this presentation, I will discuss how deep learning techniques can be applied to identify software vulnerabilities in C/C++ source code. Software vulnerabilities are a major concern in modern applications, and detecting them early can help improve system security and reliability.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1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Calibri"/>
              </a:rPr>
              <a:t>▸  Software vulnerabilities cause security breaches, service disruption, and data exposure</a:t>
            </a:r>
          </a:p>
          <a:p>
            <a:r>
              <a:rPr lang="en-US" sz="2400" dirty="0">
                <a:latin typeface="Calibri"/>
              </a:rPr>
              <a:t>▸  Healthcare software is especially critical — vulnerabilities can compromise: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Electronic Health Records (EHR) and patient data confidentiality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Clinical decision support and diagnostic workflows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 (HIPAA, GDPR)</a:t>
            </a:r>
          </a:p>
          <a:p>
            <a:r>
              <a:rPr lang="en-US" sz="2400" dirty="0">
                <a:latin typeface="Calibri"/>
              </a:rPr>
              <a:t>▸  Traditional SAST tools have high false-positive rates and limited generalization</a:t>
            </a:r>
          </a:p>
          <a:p>
            <a:r>
              <a:rPr lang="en-US" sz="2400" dirty="0">
                <a:latin typeface="Calibri"/>
              </a:rPr>
              <a:t>▸  Dl &amp; LLM-based approaches show promise but are often computationally expensive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18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Software vulnerabilities remain a serious threat to the security and reliability of modern systems, often leading to data breaches, financial loss, privacy violations, and operational disruption.</a:t>
            </a:r>
          </a:p>
          <a:p>
            <a:r>
              <a:rPr lang="en-US" dirty="0"/>
              <a:t>Although traditional detection methods and deep learning approaches show promise, their practical effectiveness depends on how well they perform on real-world datasets and specific vulnerability categories.</a:t>
            </a:r>
          </a:p>
          <a:p>
            <a:r>
              <a:rPr lang="en-US" dirty="0"/>
              <a:t>This study investigates the use of deep learning to detect high-impact vulnerabilities in C/C++ source code, including injection flaws, buffer overflows, insecure deserialization, and access control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BiLSTM</a:t>
            </a:r>
            <a:r>
              <a:rPr lang="en-US" sz="1200" dirty="0"/>
              <a:t> with Self-Attention Model Architecture for CWE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Data: 4-stage code cleaning and BPE (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 Pair Encoding</a:t>
            </a:r>
            <a:r>
              <a:rPr lang="en-US" dirty="0"/>
              <a:t> (BPE))</a:t>
            </a:r>
            <a:r>
              <a:rPr lang="en-US" sz="1200" dirty="0"/>
              <a:t> tokenization; severe 300x class imbalance is addressed using macro-averaging rather than oversampling.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Model: Lightweight 2-layer </a:t>
            </a:r>
            <a:r>
              <a:rPr lang="en-US" sz="1200" dirty="0" err="1"/>
              <a:t>BiLSTM</a:t>
            </a:r>
            <a:r>
              <a:rPr lang="en-US" sz="1200" dirty="0"/>
              <a:t> with Self-Attention (~6.5M parameters) ending in a 118-class prediction head.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Training: Uses </a:t>
            </a:r>
            <a:r>
              <a:rPr lang="en-US" sz="1200" dirty="0" err="1"/>
              <a:t>AdamW</a:t>
            </a:r>
            <a:r>
              <a:rPr lang="en-US" sz="1200" dirty="0"/>
              <a:t> and FP16 mixed precision, completing in just ~12 minutes on a standard laptop GPU.</a:t>
            </a:r>
          </a:p>
          <a:p>
            <a:endParaRPr lang="en-US" dirty="0"/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Macro F1 score is </a:t>
            </a:r>
            <a:r>
              <a:rPr lang="en-US" dirty="0"/>
              <a:t>a classification evaluation metric that calculates the unweighted mean of F1 scores across all classes in a multi-class problem. It treats all classes equally, regardless of their frequency, making it ideal for identifying performance issues on smaller, minority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63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an </a:t>
            </a:r>
            <a:r>
              <a:rPr lang="en-US" b="1" dirty="0" err="1"/>
              <a:t>BiLSTM</a:t>
            </a:r>
            <a:r>
              <a:rPr lang="en-US" b="1" dirty="0"/>
              <a:t>-based sequence model</a:t>
            </a:r>
            <a:r>
              <a:rPr lang="en-US" dirty="0"/>
              <a:t> trying to understand the word </a:t>
            </a:r>
            <a:r>
              <a:rPr lang="en-US" b="1" dirty="0"/>
              <a:t>“apple”</a:t>
            </a:r>
            <a:r>
              <a:rPr lang="en-US" dirty="0"/>
              <a:t> in the sentence:</a:t>
            </a:r>
          </a:p>
          <a:p>
            <a:r>
              <a:rPr lang="en-US" b="1" dirty="0"/>
              <a:t>“</a:t>
            </a:r>
            <a:r>
              <a:rPr lang="en-US" b="1" dirty="0" err="1"/>
              <a:t>dhaval</a:t>
            </a:r>
            <a:r>
              <a:rPr lang="en-US" b="1" dirty="0"/>
              <a:t> loves apple it keeps him healthy”</a:t>
            </a:r>
            <a:endParaRPr lang="en-US" dirty="0"/>
          </a:p>
          <a:p>
            <a:r>
              <a:rPr lang="en-US" dirty="0"/>
              <a:t>Here, the model must decide whether </a:t>
            </a:r>
            <a:r>
              <a:rPr lang="en-US" b="1" dirty="0"/>
              <a:t>apple</a:t>
            </a:r>
            <a:r>
              <a:rPr lang="en-US" dirty="0"/>
              <a:t> means a </a:t>
            </a:r>
            <a:r>
              <a:rPr lang="en-US" b="1" dirty="0"/>
              <a:t>fruit</a:t>
            </a:r>
            <a:r>
              <a:rPr lang="en-US" dirty="0"/>
              <a:t> or a </a:t>
            </a:r>
            <a:r>
              <a:rPr lang="en-US" b="1" dirty="0"/>
              <a:t>company</a:t>
            </a:r>
            <a:r>
              <a:rPr lang="en-US" dirty="0"/>
              <a:t>.</a:t>
            </a:r>
          </a:p>
          <a:p>
            <a:r>
              <a:rPr lang="en-US" dirty="0"/>
              <a:t>A normal </a:t>
            </a:r>
            <a:r>
              <a:rPr lang="en-US" b="1" dirty="0"/>
              <a:t>RNN</a:t>
            </a:r>
            <a:r>
              <a:rPr lang="en-US" dirty="0"/>
              <a:t> reads words one by one and passes information forward using hidden states like </a:t>
            </a:r>
            <a:r>
              <a:rPr lang="en-US" b="1" dirty="0"/>
              <a:t>a¹, a², a³...</a:t>
            </a:r>
            <a:r>
              <a:rPr lang="en-US" dirty="0"/>
              <a:t>. The problem is that when the sentence is long, earlier information becomes weaker as it passes through many steps.</a:t>
            </a:r>
          </a:p>
          <a:p>
            <a:r>
              <a:rPr lang="en-US" dirty="0"/>
              <a:t>This is called the </a:t>
            </a:r>
            <a:r>
              <a:rPr lang="en-US" b="1" dirty="0"/>
              <a:t>vanishing gradient problem</a:t>
            </a:r>
            <a:r>
              <a:rPr lang="en-US" dirty="0"/>
              <a:t>.</a:t>
            </a:r>
          </a:p>
          <a:p>
            <a:r>
              <a:rPr lang="en-US" dirty="0"/>
              <a:t>It means the model slowly “forgets” important earlier or later context. For example, the word </a:t>
            </a:r>
            <a:r>
              <a:rPr lang="en-US" b="1" dirty="0"/>
              <a:t>healthy</a:t>
            </a:r>
            <a:r>
              <a:rPr lang="en-US" dirty="0"/>
              <a:t> appears later and helps confirm that </a:t>
            </a:r>
            <a:r>
              <a:rPr lang="en-US" b="1" dirty="0"/>
              <a:t>apple = fruit</a:t>
            </a:r>
            <a:r>
              <a:rPr lang="en-US" dirty="0"/>
              <a:t>, but a simple RNN may struggle to connect </a:t>
            </a:r>
            <a:r>
              <a:rPr lang="en-US" b="1" dirty="0"/>
              <a:t>apple</a:t>
            </a:r>
            <a:r>
              <a:rPr lang="en-US" dirty="0"/>
              <a:t> with </a:t>
            </a:r>
            <a:r>
              <a:rPr lang="en-US" b="1" dirty="0"/>
              <a:t>healthy</a:t>
            </a:r>
            <a:r>
              <a:rPr lang="en-US" dirty="0"/>
              <a:t> if the sequence is long.</a:t>
            </a:r>
          </a:p>
          <a:p>
            <a:r>
              <a:rPr lang="en-US" dirty="0"/>
              <a:t>So, </a:t>
            </a:r>
            <a:r>
              <a:rPr lang="en-US" b="1" dirty="0"/>
              <a:t>RNNs struggle with long sequences because they cannot reliably remember distant context</a:t>
            </a:r>
            <a:r>
              <a:rPr lang="en-US" dirty="0"/>
              <a:t>.</a:t>
            </a:r>
          </a:p>
          <a:p>
            <a:r>
              <a:rPr lang="en-US" b="1" dirty="0"/>
              <a:t>LSTM solves this better</a:t>
            </a:r>
            <a:r>
              <a:rPr lang="en-US" dirty="0"/>
              <a:t> by using memory gates, allowing it to keep important information for a longer time and forget unnecessary information.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Bidirectional Long Short-Term Memory — reads code tokens in both forward and reverse directions, capturing context from both preceding and following tokens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2-layer stacked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hidden dimension 256 — produces a 512-dimensional representation (256 forward + 256 backward) per token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Self-Attention layer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top — learns which tokens in the sequence are most relevant to the vulnerability pattern, assigning higher weights to suspicious code constructs (e.g.,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strcpy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unchecked array indices)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pretraining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trained from scratch on Juliet data using random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unlike CodeT5/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CodeBERT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leverage pretrained language models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uses CodeT5-Small's tokenizer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subword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convert source code into input IDs; embedding layer (dim=128) maps tokens to dense vectors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 head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attention-weighted representation → Dropout(0.3) → Linear(512 → 118 CWE classes)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6.5M parameters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17–20× smaller than transformer encoders (110–125M)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=1e-3), batch size 32, 10 epochs, patience 3, FP16 mixed precision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F1 = 0.9993, Accuracy = 0.9982, Latency = 17.4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45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CD6A-B213-8CBD-E478-9874A658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7AE75-8F1A-3FB5-09FA-A0CBF1BF1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C82EF-6BAA-6E37-1F1F-EFB0ED55A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NIST Juliet Test Suite v1.3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 —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Segoe WPC"/>
              </a:rPr>
              <a:t>standardised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 benchmark of 144,109 C/C++ labelled samples spanning 118 CWE classes (e.g., CWE-121 Stack Buffer Overflow, CWE-78 OS Command Injection, CWE-190 Integer Overflow).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 err="1"/>
              <a:t>CodeGemma</a:t>
            </a:r>
            <a:r>
              <a:rPr lang="en-US" dirty="0"/>
              <a:t> - 2 billion (2B)</a:t>
            </a:r>
          </a:p>
          <a:p>
            <a:r>
              <a:rPr lang="en-US" dirty="0"/>
              <a:t>Gemma 4 - 5.1B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3E3AD-0772-E9B8-2813-0CE459DE8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7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NIST Juliet Test Suite v1.3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 —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Segoe WPC"/>
              </a:rPr>
              <a:t>standardised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Segoe WPC"/>
              </a:rPr>
              <a:t> benchmark of 144,109 C/C++ labelled samples spanning 118 CWE classes (e.g., CWE-121 Stack Buffer Overflow, CWE-78 OS Command Injection, CWE-190 Integer Overflow).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3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BiLSTM</a:t>
            </a:r>
            <a:r>
              <a:rPr lang="en-US" b="1" dirty="0"/>
              <a:t>-Attention achieves highest F1 (0.9993)</a:t>
            </a:r>
            <a:r>
              <a:rPr lang="en-US" dirty="0"/>
              <a:t> — lightweight sequential model surpasses all transformers on structured Juliet code, with only 6.5M parameters vs 35–125M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85% of CWE classes (74/87) reach perfect F1=1.00</a:t>
            </a:r>
            <a:r>
              <a:rPr lang="en-US" dirty="0"/>
              <a:t> — model reliably distinguishes the majority of vulnerability types with zero misclassification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Consumer-grade GPU is sufficient</a:t>
            </a:r>
            <a:r>
              <a:rPr lang="en-US" dirty="0"/>
              <a:t> — all models trained on a single 8GB RTX 2000 Ada in 43–53 minutes; inference latency 17–27ms enables real-time CI/CD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Synthetic-to-real gap</a:t>
            </a:r>
            <a:r>
              <a:rPr lang="en-US" dirty="0"/>
              <a:t>: The Juliet Test Suite's formulaic structure inflates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imbalance</a:t>
            </a:r>
            <a:r>
              <a:rPr lang="en-US" dirty="0"/>
              <a:t>: 1,500:1 sample ratio across 118 CWEs biases predictions toward high-frequency buffer CWEs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BiLSTM</a:t>
            </a:r>
            <a:r>
              <a:rPr lang="en-US" b="1" dirty="0"/>
              <a:t> generalizability</a:t>
            </a:r>
            <a:r>
              <a:rPr lang="en-US" dirty="0"/>
              <a:t>: Exceptional Juliet performance may not transfer to diverse real-world code patterns</a:t>
            </a:r>
          </a:p>
          <a:p>
            <a:br>
              <a:rPr lang="en-US" dirty="0"/>
            </a:br>
            <a:br>
              <a:rPr lang="en-US" sz="1100" i="0" dirty="0">
                <a:effectLst/>
                <a:latin typeface="Segoe WPC"/>
              </a:rPr>
            </a:br>
            <a:endParaRPr lang="en-US" sz="1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38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Lightweight models can dominate</a:t>
            </a:r>
            <a:br>
              <a:rPr lang="en-US" dirty="0"/>
            </a:br>
            <a:r>
              <a:rPr lang="en-US" dirty="0" err="1"/>
              <a:t>BiLSTM</a:t>
            </a:r>
            <a:r>
              <a:rPr lang="en-US" dirty="0"/>
              <a:t>-Attention achieved F1 = 0.9993, challenging the idea that larger pretrained transformers are always better.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Juliet accuracy ≠ production readiness</a:t>
            </a:r>
            <a:br>
              <a:rPr lang="en-US" dirty="0"/>
            </a:br>
            <a:r>
              <a:rPr lang="en-US" dirty="0"/>
              <a:t>High benchmark performance should not be treated as proof of real-world deployment readiness.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Architecture matters more than size</a:t>
            </a:r>
            <a:br>
              <a:rPr lang="en-US" dirty="0"/>
            </a:br>
            <a:r>
              <a:rPr lang="en-US" dirty="0"/>
              <a:t>CodeT5-Base outperformed larger </a:t>
            </a:r>
            <a:r>
              <a:rPr lang="en-US" dirty="0" err="1"/>
              <a:t>CodeBERT</a:t>
            </a:r>
            <a:r>
              <a:rPr lang="en-US" dirty="0"/>
              <a:t> and </a:t>
            </a:r>
            <a:r>
              <a:rPr lang="en-US" dirty="0" err="1"/>
              <a:t>GraphCodeBERT</a:t>
            </a:r>
            <a:r>
              <a:rPr lang="en-US" dirty="0"/>
              <a:t> models despite having fewer parameters.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Errors reflect data imbalance</a:t>
            </a:r>
            <a:br>
              <a:rPr lang="en-US" dirty="0"/>
            </a:br>
            <a:r>
              <a:rPr lang="en-US" dirty="0"/>
              <a:t>The high error concentration on CWE-126 is mainly due to uneven test sample distribution, not necessarily model weakness.</a:t>
            </a:r>
            <a:endParaRPr lang="en-US" sz="1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55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Efficiency over complexity</a:t>
            </a:r>
            <a:br>
              <a:rPr lang="en-US" dirty="0"/>
            </a:br>
            <a:r>
              <a:rPr lang="en-US" dirty="0"/>
              <a:t>Lightweight </a:t>
            </a:r>
            <a:r>
              <a:rPr lang="en-US" dirty="0" err="1"/>
              <a:t>BiLSTM</a:t>
            </a:r>
            <a:r>
              <a:rPr lang="en-US" dirty="0"/>
              <a:t>-Attention models can outperform larger pretrained transformers on focused code-related tasks.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Use rigorous evaluation</a:t>
            </a:r>
            <a:br>
              <a:rPr lang="en-US" dirty="0"/>
            </a:br>
            <a:r>
              <a:rPr lang="en-US" dirty="0"/>
              <a:t>Avoid inflated results by controlling structural or template overlap between training and test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Benchmarks are not deployment</a:t>
            </a:r>
            <a:br>
              <a:rPr lang="en-US" dirty="0"/>
            </a:br>
            <a:r>
              <a:rPr lang="en-US" dirty="0"/>
              <a:t>Strong benchmark scores may not transfer to real-world datasets due to data quality and domain differences.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Speed matters in practice</a:t>
            </a:r>
            <a:br>
              <a:rPr lang="en-US" dirty="0"/>
            </a:br>
            <a:r>
              <a:rPr lang="en-US" dirty="0"/>
              <a:t>Fast training and low-latency inference enable integration into IDEs, pipelines, and developer workflows.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Key message</a:t>
            </a:r>
            <a:br>
              <a:rPr lang="en-US" dirty="0"/>
            </a:br>
            <a:r>
              <a:rPr lang="en-US" dirty="0"/>
              <a:t>Practical vulnerability detection needs efficient models, realistic testing, and scalable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05155-F6A5-441C-B65E-14B7E9EAD4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5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>
            <a:alphaModFix/>
          </a:blip>
          <a:srcRect r="81454" b="8525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3447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">
  <p:cSld name="4_Custom Layout 1"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20"/>
          <p:cNvSpPr txBox="1">
            <a:spLocks noGrp="1"/>
          </p:cNvSpPr>
          <p:nvPr>
            <p:ph type="sldNum" idx="12"/>
          </p:nvPr>
        </p:nvSpPr>
        <p:spPr>
          <a:xfrm>
            <a:off x="190501" y="63810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0" name="Google Shape;1710;p20"/>
          <p:cNvSpPr txBox="1">
            <a:spLocks noGrp="1"/>
          </p:cNvSpPr>
          <p:nvPr>
            <p:ph type="title"/>
          </p:nvPr>
        </p:nvSpPr>
        <p:spPr>
          <a:xfrm>
            <a:off x="1248637" y="7576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11" name="Google Shape;1711;p20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2" name="Google Shape;1712;p20"/>
          <p:cNvPicPr preferRelativeResize="0"/>
          <p:nvPr/>
        </p:nvPicPr>
        <p:blipFill rotWithShape="1">
          <a:blip r:embed="rId4">
            <a:alphaModFix/>
          </a:blip>
          <a:srcRect r="81454" b="8517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3" name="Google Shape;1713;p20"/>
          <p:cNvCxnSpPr/>
          <p:nvPr/>
        </p:nvCxnSpPr>
        <p:spPr>
          <a:xfrm>
            <a:off x="1202479" y="757656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4" name="Google Shape;1714;p20"/>
          <p:cNvSpPr txBox="1">
            <a:spLocks noGrp="1"/>
          </p:cNvSpPr>
          <p:nvPr>
            <p:ph type="body" idx="1"/>
          </p:nvPr>
        </p:nvSpPr>
        <p:spPr>
          <a:xfrm>
            <a:off x="1248638" y="11557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5" name="Google Shape;1715;p20"/>
          <p:cNvSpPr txBox="1">
            <a:spLocks noGrp="1"/>
          </p:cNvSpPr>
          <p:nvPr>
            <p:ph type="body" idx="2" hasCustomPrompt="1"/>
          </p:nvPr>
        </p:nvSpPr>
        <p:spPr>
          <a:xfrm>
            <a:off x="495302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14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114D"/>
              </a:buClr>
              <a:buSzPts val="1800"/>
              <a:buFont typeface="Arial" panose="020B0604020202020204" pitchFamily="34" charset="0"/>
              <a:buChar char="•"/>
              <a:defRPr sz="1800">
                <a:solidFill>
                  <a:srgbClr val="7F7F7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IN" dirty="0"/>
              <a:t>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49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2000" cy="72136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31" y="2340003"/>
            <a:ext cx="4590899" cy="1473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776D66-1F2F-B348-8DC7-42BD5D86556D}"/>
              </a:ext>
            </a:extLst>
          </p:cNvPr>
          <p:cNvSpPr txBox="1"/>
          <p:nvPr/>
        </p:nvSpPr>
        <p:spPr>
          <a:xfrm>
            <a:off x="6665247" y="1085012"/>
            <a:ext cx="4744830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Deep Learning for Software Vulnerability Detection: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 Case Study on C/C++ Projects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Georgia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Georgia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Georgia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Georgia"/>
              </a:rPr>
              <a:t>Amrita School of Computing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eorgia"/>
              </a:rPr>
              <a:t>Amritapuri</a:t>
            </a:r>
            <a:r>
              <a:rPr lang="en-US" dirty="0">
                <a:solidFill>
                  <a:schemeClr val="bg1"/>
                </a:solidFill>
                <a:latin typeface="Georgia"/>
              </a:rPr>
              <a:t> Campus</a:t>
            </a:r>
          </a:p>
          <a:p>
            <a:pPr algn="ctr"/>
            <a:endParaRPr lang="en-US" sz="3200" dirty="0">
              <a:solidFill>
                <a:schemeClr val="bg1"/>
              </a:solidFill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latin typeface="Georgia"/>
              <a:cs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6355564" y="2058391"/>
            <a:ext cx="0" cy="218241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Google Shape;154;p22" descr="A picture containing person, white&#10;&#10;Description automatically generated">
            <a:extLst>
              <a:ext uri="{FF2B5EF4-FFF2-40B4-BE49-F238E27FC236}">
                <a16:creationId xmlns:a16="http://schemas.microsoft.com/office/drawing/2014/main" id="{8B1E97CD-116B-7461-F600-62BBBFA559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0568" t="1834" r="17645" b="33811"/>
          <a:stretch/>
        </p:blipFill>
        <p:spPr>
          <a:xfrm>
            <a:off x="5050621" y="235276"/>
            <a:ext cx="1614626" cy="1494417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910F4D-56E9-3D45-C5F1-98E48116B14E}"/>
              </a:ext>
            </a:extLst>
          </p:cNvPr>
          <p:cNvSpPr txBox="1"/>
          <p:nvPr/>
        </p:nvSpPr>
        <p:spPr>
          <a:xfrm>
            <a:off x="4922862" y="2583798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rPr dirty="0"/>
              <a:t>Basanth M 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5550A-45BA-7297-EDCC-746D5DEE8E76}"/>
              </a:ext>
            </a:extLst>
          </p:cNvPr>
          <p:cNvSpPr txBox="1"/>
          <p:nvPr/>
        </p:nvSpPr>
        <p:spPr>
          <a:xfrm>
            <a:off x="4987598" y="298032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4A"/>
                </a:solidFill>
                <a:latin typeface="Calibri"/>
              </a:defRPr>
            </a:pPr>
            <a:r>
              <a:rPr dirty="0"/>
              <a:t>AM.SC.R4CSE25007-PT</a:t>
            </a:r>
          </a:p>
        </p:txBody>
      </p:sp>
    </p:spTree>
    <p:extLst>
      <p:ext uri="{BB962C8B-B14F-4D97-AF65-F5344CB8AC3E}">
        <p14:creationId xmlns:p14="http://schemas.microsoft.com/office/powerpoint/2010/main" val="304919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Software vulnerabilities cause security breaches, service disruption, and data exposure</a:t>
            </a:r>
          </a:p>
          <a:p>
            <a:r>
              <a:rPr lang="en-US" sz="2400" dirty="0">
                <a:latin typeface="Calibri"/>
              </a:rPr>
              <a:t>▸  Healthcare software is especially critical — vulnerabilities can compromise: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Electronic Health Records (EHR) and patient data confidentiality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Clinical decision support and diagnostic workflows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 (HIPAA, GDPR)</a:t>
            </a:r>
          </a:p>
          <a:p>
            <a:r>
              <a:rPr lang="en-US" sz="2400" dirty="0">
                <a:latin typeface="Calibri"/>
              </a:rPr>
              <a:t>▸  Traditional SAST tools have high false-positive rates and limited generalization</a:t>
            </a:r>
          </a:p>
          <a:p>
            <a:r>
              <a:rPr lang="en-US" sz="2400" dirty="0">
                <a:latin typeface="Calibri"/>
              </a:rPr>
              <a:t>▸  Dl &amp; LLM-based approaches show promise but are often computationally expensive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sz="2400" dirty="0"/>
              <a:t>Why Vulnerability Detection Matters?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Problem Statement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46760" y="1749287"/>
            <a:ext cx="10698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	Software vulnerabilities remain a serious threat to the security and reliability of modern systems, often leading to data breaches, financial loss, privacy violations, and operational disruption.</a:t>
            </a:r>
          </a:p>
          <a:p>
            <a:r>
              <a:rPr lang="en-US" sz="2400" dirty="0"/>
              <a:t>	Although traditional detection methods and deep learning approaches show promise, their practical effectiveness depends on how well they perform on real-world datasets and specific vulnerability categories.</a:t>
            </a:r>
          </a:p>
          <a:p>
            <a:r>
              <a:rPr lang="en-US" sz="2400" dirty="0"/>
              <a:t>	This study investigates the use of deep learning to detect high-impact vulnerabilities in C/C++ source code, including injection flaws, buffer overflows, insecure deserialization, and access control issues.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00"/>
    </mc:Choice>
    <mc:Fallback xmlns="">
      <p:transition spd="slow" advTm="806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examine the </a:t>
            </a:r>
            <a:r>
              <a:rPr lang="en-US" sz="2400" b="1" dirty="0"/>
              <a:t>use of deep learning for software vulnerability detection in a practical setting</a:t>
            </a:r>
            <a:r>
              <a:rPr lang="en-US" sz="24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study </a:t>
            </a:r>
            <a:r>
              <a:rPr lang="en-US" sz="2400" b="1" dirty="0"/>
              <a:t>how deep learning models learn patterns</a:t>
            </a:r>
            <a:r>
              <a:rPr lang="en-US" sz="2400" dirty="0"/>
              <a:t> from source code and vulnerability-related information.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</a:t>
            </a:r>
            <a:r>
              <a:rPr lang="en-US" sz="2400" b="1" dirty="0"/>
              <a:t>detect high-impact vulnerabilities in C/C++</a:t>
            </a:r>
            <a:r>
              <a:rPr lang="en-US" sz="2400" dirty="0"/>
              <a:t>, including injection flaws, buffer overflows, insecure deserialization, and access control issues.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</a:t>
            </a:r>
            <a:r>
              <a:rPr lang="en-US" sz="2400" b="1" dirty="0"/>
              <a:t>evaluate model performance using Accuracy</a:t>
            </a:r>
            <a:r>
              <a:rPr lang="en-US" sz="2400" dirty="0"/>
              <a:t>, Precision, Recall, F1-score, and False Positive Rate.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identify the </a:t>
            </a:r>
            <a:r>
              <a:rPr lang="en-US" sz="2400" b="1" dirty="0"/>
              <a:t>strengths, limitations, and practical implications </a:t>
            </a:r>
            <a:r>
              <a:rPr lang="en-US" sz="2400" dirty="0"/>
              <a:t>of deep learning-based vulnerability detection.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sz="3600" dirty="0"/>
              <a:t>Objectives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A7179B-C9E0-2C6E-572F-A1D7D13D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14DC3-594D-BC8C-66DE-FF9D6225EFCE}"/>
              </a:ext>
            </a:extLst>
          </p:cNvPr>
          <p:cNvSpPr txBox="1"/>
          <p:nvPr/>
        </p:nvSpPr>
        <p:spPr>
          <a:xfrm>
            <a:off x="1207293" y="599986"/>
            <a:ext cx="1063228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Evaluation Metrics — Definitions &amp; Relevance to </a:t>
            </a:r>
          </a:p>
          <a:p>
            <a:pPr algn="l">
              <a:buNone/>
            </a:pPr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CWE Classification</a:t>
            </a:r>
          </a:p>
          <a:p>
            <a:pPr>
              <a:buNone/>
            </a:pPr>
            <a:br>
              <a:rPr lang="en-US" sz="1400" b="0" i="0" dirty="0">
                <a:solidFill>
                  <a:srgbClr val="BFBFBF"/>
                </a:solidFill>
                <a:effectLst/>
                <a:latin typeface="Segoe WPC"/>
              </a:rPr>
            </a:b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AA7399A-F8D4-79E5-1CE3-ABEBDFEC93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183920"/>
                  </p:ext>
                </p:extLst>
              </p:nvPr>
            </p:nvGraphicFramePr>
            <p:xfrm>
              <a:off x="495299" y="1600199"/>
              <a:ext cx="11420477" cy="4776624"/>
            </p:xfrm>
            <a:graphic>
              <a:graphicData uri="http://schemas.openxmlformats.org/drawingml/2006/table">
                <a:tbl>
                  <a:tblPr/>
                  <a:tblGrid>
                    <a:gridCol w="955730">
                      <a:extLst>
                        <a:ext uri="{9D8B030D-6E8A-4147-A177-3AD203B41FA5}">
                          <a16:colId xmlns:a16="http://schemas.microsoft.com/office/drawing/2014/main" val="179324686"/>
                        </a:ext>
                      </a:extLst>
                    </a:gridCol>
                    <a:gridCol w="3600877">
                      <a:extLst>
                        <a:ext uri="{9D8B030D-6E8A-4147-A177-3AD203B41FA5}">
                          <a16:colId xmlns:a16="http://schemas.microsoft.com/office/drawing/2014/main" val="1398326156"/>
                        </a:ext>
                      </a:extLst>
                    </a:gridCol>
                    <a:gridCol w="2337099">
                      <a:extLst>
                        <a:ext uri="{9D8B030D-6E8A-4147-A177-3AD203B41FA5}">
                          <a16:colId xmlns:a16="http://schemas.microsoft.com/office/drawing/2014/main" val="3992800169"/>
                        </a:ext>
                      </a:extLst>
                    </a:gridCol>
                    <a:gridCol w="4526771">
                      <a:extLst>
                        <a:ext uri="{9D8B030D-6E8A-4147-A177-3AD203B41FA5}">
                          <a16:colId xmlns:a16="http://schemas.microsoft.com/office/drawing/2014/main" val="4022076630"/>
                        </a:ext>
                      </a:extLst>
                    </a:gridCol>
                  </a:tblGrid>
                  <a:tr h="1033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Metric</a:t>
                          </a: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Formula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What It Measures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Why It Matters Here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3747919"/>
                      </a:ext>
                    </a:extLst>
                  </a:tr>
                  <a:tr h="66968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dirty="0">
                              <a:effectLst/>
                            </a:rPr>
                            <a:t>Accuracy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Proportion of all predictions that are correct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Baseline correctness across all 118 CWE classes; can be misleading with class imbalance (e.g., 99.8% accuracy but missing rare CWEs)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0770570"/>
                      </a:ext>
                    </a:extLst>
                  </a:tr>
                  <a:tr h="588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Precision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 dirty="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Of all samples predicted as a given CWE, how many actually are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High precision = fewer false alarms; critical for developer trust — flagging clean code as vulnerable wastes review time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0E2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8912081"/>
                      </a:ext>
                    </a:extLst>
                  </a:tr>
                  <a:tr h="75058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Recall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Of all actual samples of a CWE, how many are detected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High recall = fewer missed vulnerabilities; critical for security — an undetected CWE-121 buffer overflow in production is a breach risk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90E2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4989809"/>
                      </a:ext>
                    </a:extLst>
                  </a:tr>
                  <a:tr h="75058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F1-Score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𝑃𝑟𝑒𝑐𝑖𝑠𝑖𝑜𝑛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𝑅𝑒𝑐𝑎𝑙𝑙</m:t>
                                    </m:r>
                                  </m:num>
                                  <m:den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𝑃𝑟𝑒𝑐𝑖𝑠𝑖𝑜𝑛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𝑅𝑒𝑐𝑎𝑙𝑙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 dirty="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Harmonic mean of precision and recall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Balances the trade-off between false alarms and missed detections; </a:t>
                          </a:r>
                          <a:r>
                            <a:rPr lang="en-US" sz="1400" b="1">
                              <a:effectLst/>
                            </a:rPr>
                            <a:t>primary metric</a:t>
                          </a:r>
                          <a:r>
                            <a:rPr lang="en-US" sz="1400">
                              <a:effectLst/>
                            </a:rPr>
                            <a:t> in this study because both matter equally in vulnerability detection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483325"/>
                      </a:ext>
                    </a:extLst>
                  </a:tr>
                  <a:tr h="8314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MCC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d>
                                          <m:dPr>
                                            <m:ctrlP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𝑇𝑃</m:t>
                                            </m:r>
                                            <m:r>
                                              <a:rPr lang="ar-AE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𝐹𝑃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𝑇𝑃</m:t>
                                            </m:r>
                                            <m:r>
                                              <a:rPr lang="ar-AE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𝐹𝑁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𝑇𝑁</m:t>
                                            </m:r>
                                            <m:r>
                                              <a:rPr lang="ar-AE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𝐹𝑃</m:t>
                                            </m:r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𝑇𝑁</m:t>
                                            </m:r>
                                            <m:r>
                                              <a:rPr lang="ar-AE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ar-AE" sz="1400" i="1">
                                                <a:latin typeface="Cambria Math" panose="02040503050406030204" pitchFamily="18" charset="0"/>
                                              </a:rPr>
                                              <m:t>𝐹𝑁</m:t>
                                            </m:r>
                                          </m:e>
                                        </m:d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Correlation between predicted and actual labels (−1 to +1)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Most robust single metric for imbalanced multi-class problems; a score of +1 = perfect, 0 = random, −1 = inverse; accounts for all four confusion matrix quadrants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0961359"/>
                      </a:ext>
                    </a:extLst>
                  </a:tr>
                  <a:tr h="8314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FPR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F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num>
                                  <m:den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ar-AE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F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Proportion of non-vulnerable samples incorrectly flagged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8806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Low FPR = model doesn't cry wolf; at FPR = 1.8e-5 (CodeT5-Small), only ~0.002% of clean code is falsely flagged — essential for CI/CD adoption where false positives block deployments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28806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36775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AA7399A-F8D4-79E5-1CE3-ABEBDFEC93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183920"/>
                  </p:ext>
                </p:extLst>
              </p:nvPr>
            </p:nvGraphicFramePr>
            <p:xfrm>
              <a:off x="495299" y="1600199"/>
              <a:ext cx="11420477" cy="4776624"/>
            </p:xfrm>
            <a:graphic>
              <a:graphicData uri="http://schemas.openxmlformats.org/drawingml/2006/table">
                <a:tbl>
                  <a:tblPr/>
                  <a:tblGrid>
                    <a:gridCol w="955730">
                      <a:extLst>
                        <a:ext uri="{9D8B030D-6E8A-4147-A177-3AD203B41FA5}">
                          <a16:colId xmlns:a16="http://schemas.microsoft.com/office/drawing/2014/main" val="179324686"/>
                        </a:ext>
                      </a:extLst>
                    </a:gridCol>
                    <a:gridCol w="3600877">
                      <a:extLst>
                        <a:ext uri="{9D8B030D-6E8A-4147-A177-3AD203B41FA5}">
                          <a16:colId xmlns:a16="http://schemas.microsoft.com/office/drawing/2014/main" val="1398326156"/>
                        </a:ext>
                      </a:extLst>
                    </a:gridCol>
                    <a:gridCol w="2337099">
                      <a:extLst>
                        <a:ext uri="{9D8B030D-6E8A-4147-A177-3AD203B41FA5}">
                          <a16:colId xmlns:a16="http://schemas.microsoft.com/office/drawing/2014/main" val="3992800169"/>
                        </a:ext>
                      </a:extLst>
                    </a:gridCol>
                    <a:gridCol w="4526771">
                      <a:extLst>
                        <a:ext uri="{9D8B030D-6E8A-4147-A177-3AD203B41FA5}">
                          <a16:colId xmlns:a16="http://schemas.microsoft.com/office/drawing/2014/main" val="4022076630"/>
                        </a:ext>
                      </a:extLst>
                    </a:gridCol>
                  </a:tblGrid>
                  <a:tr h="2358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Metric</a:t>
                          </a: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Formula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What It Measures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Why It Matters Here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3747919"/>
                      </a:ext>
                    </a:extLst>
                  </a:tr>
                  <a:tr h="66968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dirty="0">
                              <a:effectLst/>
                            </a:rPr>
                            <a:t>Accuracy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F075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5" t="-41818" r="-190694" b="-59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Proportion of all predictions that are correct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8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Baseline correctness across all 118 CWE classes; can be misleading with class imbalance (e.g., 99.8% accuracy but missing rare CWEs)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0770570"/>
                      </a:ext>
                    </a:extLst>
                  </a:tr>
                  <a:tr h="6625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Precision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7877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74C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5" t="-143119" r="-190694" b="-4972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Of all samples predicted as a given CWE, how many actually are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High precision = fewer false alarms; critical for developer trust — flagging clean code as vulnerable wastes review time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0E2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8912081"/>
                      </a:ext>
                    </a:extLst>
                  </a:tr>
                  <a:tr h="75058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Recall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5" t="-215447" r="-190694" b="-340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Of all actual samples of a CWE, how many are detected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High recall = fewer missed vulnerabilities; critical for security — an undetected CWE-121 buffer overflow in production is a breach risk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90E2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4989809"/>
                      </a:ext>
                    </a:extLst>
                  </a:tr>
                  <a:tr h="75058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F1-Score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5" t="-315447" r="-190694" b="-240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Harmonic mean of precision and recall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Balances the trade-off between false alarms and missed detections; </a:t>
                          </a:r>
                          <a:r>
                            <a:rPr lang="en-US" sz="1400" b="1">
                              <a:effectLst/>
                            </a:rPr>
                            <a:t>primary metric</a:t>
                          </a:r>
                          <a:r>
                            <a:rPr lang="en-US" sz="1400">
                              <a:effectLst/>
                            </a:rPr>
                            <a:t> in this study because both matter equally in vulnerability detection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0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483325"/>
                      </a:ext>
                    </a:extLst>
                  </a:tr>
                  <a:tr h="8314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MCC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565" t="-372993" r="-190694" b="-116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Correlation between predicted and actual labels (−1 to +1)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8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Most robust single metric for imbalanced multi-class problems; a score of +1 = perfect, 0 = random, −1 = inverse; accounts for all four confusion matrix quadrants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0961359"/>
                      </a:ext>
                    </a:extLst>
                  </a:tr>
                  <a:tr h="87591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>
                              <a:effectLst/>
                            </a:rPr>
                            <a:t>FPR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16854" marR="16854" marT="11236" marB="11236" anchor="ctr">
                        <a:lnL>
                          <a:noFill/>
                        </a:lnL>
                        <a:lnR w="9525" cap="flat" cmpd="sng" algn="ctr">
                          <a:solidFill>
                            <a:srgbClr val="F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F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18E4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26565" t="-450000" r="-190694" b="-10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Proportion of non-vulnerable samples incorrectly flagged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8806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30E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Low FPR = model doesn't cry wolf; at FPR = 1.8e-5 (CodeT5-Small), only ~0.002% of clean code is falsely flagged — essential for CI/CD adoption where false positives block deployments</a:t>
                          </a:r>
                        </a:p>
                      </a:txBody>
                      <a:tcPr marL="16854" marR="16854" marT="11236" marB="11236" anchor="ctr">
                        <a:lnL w="9525" cap="flat" cmpd="sng" algn="ctr">
                          <a:solidFill>
                            <a:srgbClr val="28806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E0E3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36775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828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C82F-3EC6-B4BB-64C4-F3324AB4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927F8E-1FDE-6335-F366-9FCB67D0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67" y="-67376"/>
            <a:ext cx="12778740" cy="7132320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A5085C4A-CDB9-5C73-A2DC-F73FB75B9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993731" y="926357"/>
            <a:ext cx="2408963" cy="421500"/>
          </a:xfrm>
        </p:spPr>
        <p:txBody>
          <a:bodyPr/>
          <a:lstStyle/>
          <a:p>
            <a:r>
              <a:rPr lang="en-US" sz="2800" dirty="0"/>
              <a:t>Methodology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2027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FEA37-BEBE-B207-A3F2-1D04CC6F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6F263B-BC80-02B6-E98A-18F44DDAD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1239095"/>
            <a:ext cx="12192000" cy="5579959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4A36E8FA-DB99-8720-7CF2-80EFBC586124}"/>
              </a:ext>
            </a:extLst>
          </p:cNvPr>
          <p:cNvSpPr txBox="1">
            <a:spLocks/>
          </p:cNvSpPr>
          <p:nvPr/>
        </p:nvSpPr>
        <p:spPr>
          <a:xfrm>
            <a:off x="1343887" y="504115"/>
            <a:ext cx="11067188" cy="42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lvl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 kern="120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3200" dirty="0"/>
              <a:t>Methodology</a:t>
            </a:r>
          </a:p>
          <a:p>
            <a:r>
              <a:rPr lang="en-US" sz="2400" dirty="0" err="1"/>
              <a:t>BiLSTM</a:t>
            </a:r>
            <a:r>
              <a:rPr lang="en-US" sz="2400" dirty="0"/>
              <a:t> with Self-Attention 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56460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529C7-6DC2-48F9-A31E-8A69F805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73057-440D-0ED2-7762-07F8F9D50906}"/>
              </a:ext>
            </a:extLst>
          </p:cNvPr>
          <p:cNvSpPr txBox="1"/>
          <p:nvPr/>
        </p:nvSpPr>
        <p:spPr>
          <a:xfrm>
            <a:off x="1209675" y="85248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lang="en-US" sz="3200" dirty="0">
                <a:solidFill>
                  <a:srgbClr val="A4123F"/>
                </a:solidFill>
                <a:latin typeface="Georgia"/>
              </a:rPr>
              <a:t>Case Study Details</a:t>
            </a:r>
            <a:endParaRPr sz="3200" dirty="0">
              <a:solidFill>
                <a:srgbClr val="A4123F"/>
              </a:solidFill>
              <a:latin typeface="Georgi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9038F2-D9F4-9633-226B-026706201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456"/>
          <a:stretch>
            <a:fillRect/>
          </a:stretch>
        </p:blipFill>
        <p:spPr>
          <a:xfrm>
            <a:off x="0" y="1982403"/>
            <a:ext cx="12192000" cy="35706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96CFD6-EFED-8AC9-71C5-8368BB2F8B59}"/>
              </a:ext>
            </a:extLst>
          </p:cNvPr>
          <p:cNvSpPr/>
          <p:nvPr/>
        </p:nvSpPr>
        <p:spPr>
          <a:xfrm>
            <a:off x="276225" y="5133975"/>
            <a:ext cx="11487150" cy="36195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7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9675" y="85248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lang="en-US" sz="3200" dirty="0">
                <a:solidFill>
                  <a:srgbClr val="A4123F"/>
                </a:solidFill>
                <a:latin typeface="Georgia"/>
              </a:rPr>
              <a:t>Case Study Details</a:t>
            </a:r>
            <a:endParaRPr sz="3200" dirty="0">
              <a:solidFill>
                <a:srgbClr val="A4123F"/>
              </a:solidFill>
              <a:latin typeface="Georgi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F58141-7682-1924-DBD4-F9D7B717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051"/>
          <a:stretch>
            <a:fillRect/>
          </a:stretch>
        </p:blipFill>
        <p:spPr>
          <a:xfrm>
            <a:off x="0" y="2117834"/>
            <a:ext cx="12192000" cy="307329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27C8426-021D-09F7-241C-C4ECFAC4EC8C}"/>
              </a:ext>
            </a:extLst>
          </p:cNvPr>
          <p:cNvSpPr/>
          <p:nvPr/>
        </p:nvSpPr>
        <p:spPr>
          <a:xfrm>
            <a:off x="152400" y="4724400"/>
            <a:ext cx="11487150" cy="36195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425" y="516315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lang="en-US" sz="3200" dirty="0">
                <a:solidFill>
                  <a:srgbClr val="A4123F"/>
                </a:solidFill>
                <a:latin typeface="Georgia"/>
              </a:rPr>
              <a:t>Case Study Details</a:t>
            </a:r>
          </a:p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sz="2400" b="1" dirty="0">
                <a:solidFill>
                  <a:srgbClr val="A4123F"/>
                </a:solidFill>
                <a:latin typeface="Georgia"/>
              </a:rPr>
              <a:t>Experimental Design — 7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8219" y="1870650"/>
            <a:ext cx="9641205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A: Juliet-118 Baseline — 82K train / 22K test, 4 encoder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B: Juliet-19 Subset — 19 CWEs overlapping with Big-</a:t>
            </a:r>
            <a:r>
              <a:rPr sz="2000" dirty="0" err="1"/>
              <a:t>Vul</a:t>
            </a:r>
            <a:endParaRPr sz="2000"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C: Juliet + Big-</a:t>
            </a:r>
            <a:r>
              <a:rPr sz="2000" dirty="0" err="1"/>
              <a:t>Vul</a:t>
            </a:r>
            <a:r>
              <a:rPr sz="2000" dirty="0"/>
              <a:t> Combined — real-world code added (19 CWEs)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D: Big-</a:t>
            </a:r>
            <a:r>
              <a:rPr sz="2000" dirty="0" err="1"/>
              <a:t>Vul</a:t>
            </a:r>
            <a:r>
              <a:rPr sz="2000" dirty="0"/>
              <a:t> Only — 55 CWEs from real-world vulnerability commits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E: Juliet + Big-</a:t>
            </a:r>
            <a:r>
              <a:rPr sz="2000" dirty="0" err="1"/>
              <a:t>Vul</a:t>
            </a:r>
            <a:r>
              <a:rPr sz="2000" dirty="0"/>
              <a:t> Union — 187 CWEs, maximum coverage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F: Union Extended — 6 epochs, patience=3 (longer training)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rPr sz="2000" dirty="0"/>
              <a:t>▸  Exp G: </a:t>
            </a:r>
            <a:r>
              <a:rPr sz="2000" dirty="0" err="1"/>
              <a:t>BiLSTM</a:t>
            </a:r>
            <a:r>
              <a:rPr sz="2000" dirty="0"/>
              <a:t>-Attention DL Baseline — 118 CWEs, 10 epochs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rPr sz="2000" dirty="0"/>
              <a:t>◦  Primary DL case study experiment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rPr sz="2000" dirty="0"/>
              <a:t>◦  Tests whether a ~6.5M-param LSTM can match 125M-param transformers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rPr sz="2000" dirty="0"/>
              <a:t>◦  Addresses: can simpler architecture learn structured vulnerability patterns?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783B-BAD7-1D7E-A2A1-9B4C8C39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286E7D-E08F-79D5-287D-689AD2BF03F8}"/>
              </a:ext>
            </a:extLst>
          </p:cNvPr>
          <p:cNvSpPr txBox="1"/>
          <p:nvPr/>
        </p:nvSpPr>
        <p:spPr>
          <a:xfrm>
            <a:off x="457199" y="2104936"/>
            <a:ext cx="1099185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BiLSTM</a:t>
            </a:r>
            <a:r>
              <a:rPr lang="en-US" b="1" dirty="0"/>
              <a:t>-Attention achieves highest F1 (0.9993)</a:t>
            </a:r>
            <a:r>
              <a:rPr lang="en-US" dirty="0"/>
              <a:t> — lightweight sequential model surpasses all transformers on structured Juliet code, with only 6.5M parameters vs 35–125M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85% of CWE classes (74/87) reach perfect F1=1.00</a:t>
            </a:r>
            <a:r>
              <a:rPr lang="en-US" dirty="0"/>
              <a:t> — model reliably distinguishes the majority of vulnerability types with zero misclassification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Consumer-grade GPU is sufficient</a:t>
            </a:r>
            <a:r>
              <a:rPr lang="en-US" dirty="0"/>
              <a:t> — all models trained on a single 8GB RTX 2000 Ada in 43–53 minutes; inference latency 17–27ms enables real-time CI/CD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Synthetic-to-real gap</a:t>
            </a:r>
            <a:r>
              <a:rPr lang="en-US" dirty="0"/>
              <a:t>: The Juliet Test Suite's formulaic structure inflates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imbalance</a:t>
            </a:r>
            <a:r>
              <a:rPr lang="en-US" dirty="0"/>
              <a:t>: 1,500:1 sample ratio across 118 CWEs biases predictions toward high-frequency buffer CWEs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BiLSTM</a:t>
            </a:r>
            <a:r>
              <a:rPr lang="en-US" b="1" dirty="0"/>
              <a:t> generalizability</a:t>
            </a:r>
            <a:r>
              <a:rPr lang="en-US" dirty="0"/>
              <a:t>: Exceptional Juliet performance may not transfer to diverse real-world code patterns</a:t>
            </a:r>
          </a:p>
          <a:p>
            <a:br>
              <a:rPr lang="en-US" dirty="0"/>
            </a:br>
            <a:br>
              <a:rPr lang="en-US" sz="1600" i="0" dirty="0">
                <a:effectLst/>
                <a:latin typeface="Segoe WPC"/>
              </a:rPr>
            </a:b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9FC2F-CA0E-ED0B-35F6-B7D459FDD2D7}"/>
              </a:ext>
            </a:extLst>
          </p:cNvPr>
          <p:cNvSpPr txBox="1"/>
          <p:nvPr/>
        </p:nvSpPr>
        <p:spPr>
          <a:xfrm>
            <a:off x="1169193" y="811797"/>
            <a:ext cx="967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Analysis &amp; Interpretation of the Findings</a:t>
            </a:r>
          </a:p>
        </p:txBody>
      </p:sp>
    </p:spTree>
    <p:extLst>
      <p:ext uri="{BB962C8B-B14F-4D97-AF65-F5344CB8AC3E}">
        <p14:creationId xmlns:p14="http://schemas.microsoft.com/office/powerpoint/2010/main" val="25789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781B-568F-260E-F291-88322A99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138D1C-34F3-87C0-3D30-ACD8A3C715CF}"/>
              </a:ext>
            </a:extLst>
          </p:cNvPr>
          <p:cNvSpPr txBox="1"/>
          <p:nvPr/>
        </p:nvSpPr>
        <p:spPr>
          <a:xfrm>
            <a:off x="457199" y="2104936"/>
            <a:ext cx="8334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i="0" dirty="0">
                <a:effectLst/>
                <a:latin typeface="Segoe WPC"/>
              </a:rPr>
              <a:t>Experiment — Juliet-118 Baseline (Fine-Tuned Models)</a:t>
            </a:r>
          </a:p>
          <a:p>
            <a:pPr>
              <a:buNone/>
            </a:pPr>
            <a:br>
              <a:rPr lang="en-US" sz="1600" i="0" dirty="0">
                <a:effectLst/>
                <a:latin typeface="Segoe WPC"/>
              </a:rPr>
            </a:br>
            <a:endParaRPr lang="en-US" sz="16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A23022-666C-7026-CD29-B764FBBD6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11157"/>
              </p:ext>
            </p:extLst>
          </p:nvPr>
        </p:nvGraphicFramePr>
        <p:xfrm>
          <a:off x="457200" y="2935774"/>
          <a:ext cx="10645647" cy="2103120"/>
        </p:xfrm>
        <a:graphic>
          <a:graphicData uri="http://schemas.openxmlformats.org/drawingml/2006/table">
            <a:tbl>
              <a:tblPr/>
              <a:tblGrid>
                <a:gridCol w="2943225">
                  <a:extLst>
                    <a:ext uri="{9D8B030D-6E8A-4147-A177-3AD203B41FA5}">
                      <a16:colId xmlns:a16="http://schemas.microsoft.com/office/drawing/2014/main" val="134122904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396843948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60303835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3433086483"/>
                    </a:ext>
                  </a:extLst>
                </a:gridCol>
                <a:gridCol w="968248">
                  <a:extLst>
                    <a:ext uri="{9D8B030D-6E8A-4147-A177-3AD203B41FA5}">
                      <a16:colId xmlns:a16="http://schemas.microsoft.com/office/drawing/2014/main" val="2204006315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1069872147"/>
                    </a:ext>
                  </a:extLst>
                </a:gridCol>
                <a:gridCol w="971549">
                  <a:extLst>
                    <a:ext uri="{9D8B030D-6E8A-4147-A177-3AD203B41FA5}">
                      <a16:colId xmlns:a16="http://schemas.microsoft.com/office/drawing/2014/main" val="4102702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Accuracy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Precision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Recall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5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F1-Score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Latency (ms)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Epochs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37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BiLSTM-Attention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0.9982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0.9997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0.9990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0.9993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17.4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26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CodeT5-Base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0.9978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0.9585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8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0.9644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0.9605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24.9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8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CodeT5-Small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0.9980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0.9533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0.9534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0.9533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17.2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4B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381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GraphCodeBERT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704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4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0.9975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4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41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1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8841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3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3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3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0.9530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8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2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26.9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C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2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04B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42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CodeBERT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4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0.9963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1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0.9574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3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0.9539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0.9512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D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D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19.4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98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68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4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157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F87F4A-88BC-7BA3-6EA8-9C81FE9EB42B}"/>
              </a:ext>
            </a:extLst>
          </p:cNvPr>
          <p:cNvSpPr txBox="1"/>
          <p:nvPr/>
        </p:nvSpPr>
        <p:spPr>
          <a:xfrm>
            <a:off x="1169193" y="519410"/>
            <a:ext cx="9679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Results: Comparative Performance of Deep Learning Models for CWE Vulnerability</a:t>
            </a:r>
          </a:p>
        </p:txBody>
      </p:sp>
    </p:spTree>
    <p:extLst>
      <p:ext uri="{BB962C8B-B14F-4D97-AF65-F5344CB8AC3E}">
        <p14:creationId xmlns:p14="http://schemas.microsoft.com/office/powerpoint/2010/main" val="3421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896F6-BBBE-5A85-1C42-904DAFAF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1353D4-B23E-B049-2898-13FB0B2604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DL_CaseStudy_BiLSTM_Demo">
            <a:hlinkClick r:id="" action="ppaction://media"/>
            <a:extLst>
              <a:ext uri="{FF2B5EF4-FFF2-40B4-BE49-F238E27FC236}">
                <a16:creationId xmlns:a16="http://schemas.microsoft.com/office/drawing/2014/main" id="{DCC0FA67-7D03-845D-BF7D-84C081595E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1725" y="0"/>
            <a:ext cx="9986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6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58849-CD68-1D74-4CD3-9298EA5B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B0DA63-B58B-8963-99F7-F5F74A525838}"/>
              </a:ext>
            </a:extLst>
          </p:cNvPr>
          <p:cNvSpPr txBox="1"/>
          <p:nvPr/>
        </p:nvSpPr>
        <p:spPr>
          <a:xfrm>
            <a:off x="457199" y="2104936"/>
            <a:ext cx="83343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BiLSTM</a:t>
            </a:r>
            <a:r>
              <a:rPr lang="en-US" dirty="0"/>
              <a:t>-Attention model's dominance (F1=0.9993) over pretrained transformers challenges the assumption that larger, pretrained models are always superior.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accuracy on Juliet should not be interpreted as readiness for production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Architecture Matters More Than Model Size. </a:t>
            </a:r>
            <a:r>
              <a:rPr lang="en-US" dirty="0"/>
              <a:t>CodeT5-Base (110M params, F1=0.9605) outperforms both </a:t>
            </a:r>
            <a:r>
              <a:rPr lang="en-US" dirty="0" err="1"/>
              <a:t>CodeBERT</a:t>
            </a:r>
            <a:r>
              <a:rPr lang="en-US" dirty="0"/>
              <a:t> and </a:t>
            </a:r>
            <a:r>
              <a:rPr lang="en-US" dirty="0" err="1"/>
              <a:t>GraphCodeBERT</a:t>
            </a:r>
            <a:r>
              <a:rPr lang="en-US" dirty="0"/>
              <a:t> (125M params each, F1 ≈ 0.95) despite having fewer parameters.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Imbalance Drives Systematic Error. </a:t>
            </a:r>
            <a:r>
              <a:rPr lang="en-US" dirty="0"/>
              <a:t>The concentration of 57.5% of errors on CWE-126 is not a model deficiency but a data distribution artefact. CWE-126 has 554 test samples while 31 CWE classes have zero test samples.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9CD4B1-13B8-4356-ABF7-31AA7DB7738D}"/>
              </a:ext>
            </a:extLst>
          </p:cNvPr>
          <p:cNvSpPr txBox="1"/>
          <p:nvPr/>
        </p:nvSpPr>
        <p:spPr>
          <a:xfrm>
            <a:off x="1169193" y="519410"/>
            <a:ext cx="967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Discussion – Insights, implications, or comparisons</a:t>
            </a:r>
          </a:p>
        </p:txBody>
      </p:sp>
    </p:spTree>
    <p:extLst>
      <p:ext uri="{BB962C8B-B14F-4D97-AF65-F5344CB8AC3E}">
        <p14:creationId xmlns:p14="http://schemas.microsoft.com/office/powerpoint/2010/main" val="1911273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C45B-A204-4F25-FFFC-238B9C95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EE41CFA-1AA0-4ACD-A1CD-53082FD42822}"/>
              </a:ext>
            </a:extLst>
          </p:cNvPr>
          <p:cNvSpPr txBox="1"/>
          <p:nvPr/>
        </p:nvSpPr>
        <p:spPr>
          <a:xfrm>
            <a:off x="1169193" y="519410"/>
            <a:ext cx="967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4123F"/>
                </a:solidFill>
                <a:latin typeface="Georgia"/>
                <a:sym typeface="Georgia"/>
              </a:rPr>
              <a:t>Key 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0E1C3-F380-67BA-048F-155380DC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67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[1] Li et al. (2018) — </a:t>
            </a:r>
            <a:r>
              <a:rPr lang="en-US" sz="2000" dirty="0" err="1"/>
              <a:t>VulDeePecker</a:t>
            </a:r>
            <a:r>
              <a:rPr lang="en-US" sz="2000" dirty="0"/>
              <a:t>: </a:t>
            </a:r>
            <a:r>
              <a:rPr lang="en-US" sz="2000" dirty="0" err="1"/>
              <a:t>BiLSTM</a:t>
            </a:r>
            <a:r>
              <a:rPr lang="en-US" sz="2000" dirty="0"/>
              <a:t>-based vulnerability detection, NDSS</a:t>
            </a:r>
            <a:br>
              <a:rPr lang="en-US" sz="2000" dirty="0"/>
            </a:br>
            <a:r>
              <a:rPr lang="en-US" sz="2000" dirty="0"/>
              <a:t>[2] Lu et al. (2024) — GRACE: Graph-enhanced LLM vulnerability detection, J. Sys. &amp; SW</a:t>
            </a:r>
            <a:br>
              <a:rPr lang="en-US" sz="2000" dirty="0"/>
            </a:br>
            <a:r>
              <a:rPr lang="en-US" sz="2000" dirty="0"/>
              <a:t>[3] Yang et al. (2025) — DLAP: DL-augmented LLM prompting, J. Sys. &amp; SW</a:t>
            </a:r>
            <a:br>
              <a:rPr lang="en-US" sz="2000" dirty="0"/>
            </a:br>
            <a:r>
              <a:rPr lang="en-US" sz="2000" dirty="0"/>
              <a:t>[4] Tian et al. (2025) — FUSEVUL: Multi-modal vulnerability detection, Inf. Fusion</a:t>
            </a:r>
            <a:br>
              <a:rPr lang="en-US" sz="2000" dirty="0"/>
            </a:br>
            <a:r>
              <a:rPr lang="en-US" sz="2000" dirty="0"/>
              <a:t>[5] Mao et al. (2025) — </a:t>
            </a:r>
            <a:r>
              <a:rPr lang="en-US" sz="2000" dirty="0" err="1"/>
              <a:t>LLMVulExp</a:t>
            </a:r>
            <a:r>
              <a:rPr lang="en-US" sz="2000" dirty="0"/>
              <a:t>: Explainable vulnerability detection, IEEE TSE</a:t>
            </a:r>
            <a:br>
              <a:rPr lang="en-US" sz="2000" dirty="0"/>
            </a:br>
            <a:r>
              <a:rPr lang="en-US" sz="2000" dirty="0"/>
              <a:t>[6] Liu et al. (2025) — </a:t>
            </a:r>
            <a:r>
              <a:rPr lang="en-US" sz="2000" dirty="0" err="1"/>
              <a:t>VulACLLM</a:t>
            </a:r>
            <a:r>
              <a:rPr lang="en-US" sz="2000" dirty="0"/>
              <a:t>: Lightweight LLM, J. Info. Sec. &amp; Apps.</a:t>
            </a:r>
            <a:br>
              <a:rPr lang="en-US" sz="2000" dirty="0"/>
            </a:br>
            <a:r>
              <a:rPr lang="en-US" sz="2000" dirty="0"/>
              <a:t>[7] </a:t>
            </a:r>
            <a:r>
              <a:rPr lang="en-US" sz="2000" dirty="0" err="1"/>
              <a:t>Ferrag</a:t>
            </a:r>
            <a:r>
              <a:rPr lang="en-US" sz="2000" dirty="0"/>
              <a:t> et al. (2025) — </a:t>
            </a:r>
            <a:r>
              <a:rPr lang="en-US" sz="2000" dirty="0" err="1"/>
              <a:t>SecureFalcon</a:t>
            </a:r>
            <a:r>
              <a:rPr lang="en-US" sz="2000" dirty="0"/>
              <a:t>: Compact LLM for vuln. classification, IEEE TSE</a:t>
            </a:r>
            <a:br>
              <a:rPr lang="en-US" sz="2000" dirty="0"/>
            </a:br>
            <a:r>
              <a:rPr lang="en-US" sz="2000" dirty="0"/>
              <a:t>[8] Qiu et al. (2026) — RLV: Context-aware detection via retrieval, J. Sys. &amp; SW</a:t>
            </a:r>
            <a:br>
              <a:rPr lang="en-US" sz="2000" dirty="0"/>
            </a:br>
            <a:r>
              <a:rPr lang="en-US" sz="2000" dirty="0"/>
              <a:t>[9] Chen et al. (2026) — GPTVD: Static slicing + </a:t>
            </a:r>
            <a:r>
              <a:rPr lang="en-US" sz="2000" dirty="0" err="1"/>
              <a:t>CoT</a:t>
            </a:r>
            <a:r>
              <a:rPr lang="en-US" sz="2000" dirty="0"/>
              <a:t>, Auto. SW Eng.</a:t>
            </a:r>
            <a:br>
              <a:rPr lang="en-US" sz="2000" dirty="0"/>
            </a:br>
            <a:r>
              <a:rPr lang="en-US" sz="2000" dirty="0"/>
              <a:t>[10] NSA/NIST (2017) — Juliet Test Suite for C/C++ v1.3</a:t>
            </a:r>
            <a:endParaRPr lang="en-US" sz="2000" dirty="0"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(1/2)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[11] Wang et al. (2021) — CodeT5: Identifier-aware Unified Pre-trained Encoder-Decoder, EMNLP</a:t>
            </a:r>
            <a:br>
              <a:rPr lang="en-US" sz="2000" dirty="0"/>
            </a:br>
            <a:r>
              <a:rPr lang="en-US" sz="2000" dirty="0"/>
              <a:t>[12] Feng et al. (2020) — </a:t>
            </a:r>
            <a:r>
              <a:rPr lang="en-US" sz="2000" dirty="0" err="1"/>
              <a:t>CodeBERT</a:t>
            </a:r>
            <a:r>
              <a:rPr lang="en-US" sz="2000" dirty="0"/>
              <a:t>: Pre-trained Model for Programming Languages, EMNLP</a:t>
            </a:r>
            <a:br>
              <a:rPr lang="en-US" sz="2000" dirty="0"/>
            </a:br>
            <a:r>
              <a:rPr lang="en-US" sz="2000" dirty="0"/>
              <a:t>[13] Guo et al. (2020) — </a:t>
            </a:r>
            <a:r>
              <a:rPr lang="en-US" sz="2000" dirty="0" err="1"/>
              <a:t>GraphCodeBERT</a:t>
            </a:r>
            <a:r>
              <a:rPr lang="en-US" sz="2000" dirty="0"/>
              <a:t>: Pre-training Code Representations with Data Flow</a:t>
            </a:r>
            <a:br>
              <a:rPr lang="en-US" sz="2000" dirty="0"/>
            </a:br>
            <a:r>
              <a:rPr lang="en-US" sz="2000" dirty="0"/>
              <a:t>[14] Dettmers et al. (2023) — </a:t>
            </a:r>
            <a:r>
              <a:rPr lang="en-US" sz="2000" dirty="0" err="1"/>
              <a:t>QLoRA</a:t>
            </a:r>
            <a:r>
              <a:rPr lang="en-US" sz="2000" dirty="0"/>
              <a:t>: Efficient Finetuning of Quantized LLMs, </a:t>
            </a:r>
            <a:r>
              <a:rPr lang="en-US" sz="2000" dirty="0" err="1"/>
              <a:t>NeurIPS</a:t>
            </a:r>
            <a:br>
              <a:rPr lang="en-US" sz="2000" dirty="0"/>
            </a:br>
            <a:r>
              <a:rPr lang="en-US" sz="2000" dirty="0"/>
              <a:t>[15] </a:t>
            </a:r>
            <a:r>
              <a:rPr lang="en-US" sz="2000" dirty="0" err="1"/>
              <a:t>CodeGemma</a:t>
            </a:r>
            <a:r>
              <a:rPr lang="en-US" sz="2000" dirty="0"/>
              <a:t> Team (2024) — </a:t>
            </a:r>
            <a:r>
              <a:rPr lang="en-US" sz="2000" dirty="0" err="1"/>
              <a:t>CodeGemma</a:t>
            </a:r>
            <a:r>
              <a:rPr lang="en-US" sz="2000" dirty="0"/>
              <a:t>: Open Code Models</a:t>
            </a:r>
            <a:br>
              <a:rPr lang="en-US" sz="2000" dirty="0"/>
            </a:br>
            <a:r>
              <a:rPr lang="en-US" sz="2000" dirty="0"/>
              <a:t>[16] Fan et al. (2020) — Big-</a:t>
            </a:r>
            <a:r>
              <a:rPr lang="en-US" sz="2000" dirty="0" err="1"/>
              <a:t>Vul</a:t>
            </a:r>
            <a:r>
              <a:rPr lang="en-US" sz="2000" dirty="0"/>
              <a:t>: Large-scale vulnerability dataset, MSR</a:t>
            </a:r>
            <a:br>
              <a:rPr lang="en-US" sz="2000" dirty="0"/>
            </a:br>
            <a:r>
              <a:rPr lang="en-US" sz="2000" dirty="0"/>
              <a:t>[17] Zhou et al. (2019) — </a:t>
            </a:r>
            <a:r>
              <a:rPr lang="en-US" sz="2000" dirty="0" err="1"/>
              <a:t>Devign</a:t>
            </a:r>
            <a:r>
              <a:rPr lang="en-US" sz="2000" dirty="0"/>
              <a:t>: Effective vulnerability identification, </a:t>
            </a:r>
            <a:r>
              <a:rPr lang="en-US" sz="2000" dirty="0" err="1"/>
              <a:t>NeurIPS</a:t>
            </a:r>
            <a:br>
              <a:rPr lang="en-US" sz="2000" dirty="0"/>
            </a:br>
            <a:r>
              <a:rPr lang="en-US" sz="2000" dirty="0"/>
              <a:t>[18] Dolcetti &amp; </a:t>
            </a:r>
            <a:r>
              <a:rPr lang="en-US" sz="2000" dirty="0" err="1"/>
              <a:t>Iotti</a:t>
            </a:r>
            <a:r>
              <a:rPr lang="en-US" sz="2000" dirty="0"/>
              <a:t> (2025) — Dual perspective review on LLMs and code verification, Frontiers</a:t>
            </a:r>
            <a:br>
              <a:rPr lang="en-US" sz="2000" dirty="0"/>
            </a:br>
            <a:r>
              <a:rPr lang="en-US" sz="2000" dirty="0"/>
              <a:t>[19] Shaon &amp; Akter (2025) — Modern approaches to software vulnerability detection, Electronics</a:t>
            </a:r>
            <a:endParaRPr lang="en-US" sz="2000" dirty="0"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(2/2)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114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2563</Words>
  <Application>Microsoft Office PowerPoint</Application>
  <PresentationFormat>Widescreen</PresentationFormat>
  <Paragraphs>212</Paragraphs>
  <Slides>18</Slides>
  <Notes>10</Notes>
  <HiddenSlides>2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Georgia</vt:lpstr>
      <vt:lpstr>Segoe WPC</vt:lpstr>
      <vt:lpstr>Office Theme</vt:lpstr>
      <vt:lpstr>PowerPoint Presentation</vt:lpstr>
      <vt:lpstr>Introduction Why Vulnerability Detection Matters?</vt:lpstr>
      <vt:lpstr>Problem Statement</vt:lpstr>
      <vt:lpstr>Objectives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References (1/2)</vt:lpstr>
      <vt:lpstr>Key References (2/2)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Shreedhara, Basanth Maipady</cp:lastModifiedBy>
  <cp:revision>41</cp:revision>
  <dcterms:created xsi:type="dcterms:W3CDTF">2013-01-27T09:14:16Z</dcterms:created>
  <dcterms:modified xsi:type="dcterms:W3CDTF">2026-05-06T13:50:42Z</dcterms:modified>
  <cp:category/>
</cp:coreProperties>
</file>