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467" r:id="rId2"/>
    <p:sldId id="256" r:id="rId3"/>
    <p:sldId id="468" r:id="rId4"/>
    <p:sldId id="469" r:id="rId5"/>
    <p:sldId id="470" r:id="rId6"/>
    <p:sldId id="471" r:id="rId7"/>
    <p:sldId id="472" r:id="rId8"/>
    <p:sldId id="493" r:id="rId9"/>
    <p:sldId id="473" r:id="rId10"/>
    <p:sldId id="474" r:id="rId11"/>
    <p:sldId id="475" r:id="rId12"/>
    <p:sldId id="476" r:id="rId13"/>
    <p:sldId id="477" r:id="rId14"/>
    <p:sldId id="478" r:id="rId15"/>
    <p:sldId id="479" r:id="rId16"/>
    <p:sldId id="480" r:id="rId17"/>
    <p:sldId id="482" r:id="rId18"/>
    <p:sldId id="264" r:id="rId19"/>
    <p:sldId id="265" r:id="rId20"/>
    <p:sldId id="484" r:id="rId21"/>
    <p:sldId id="485" r:id="rId22"/>
    <p:sldId id="486" r:id="rId23"/>
    <p:sldId id="487" r:id="rId24"/>
    <p:sldId id="488" r:id="rId25"/>
    <p:sldId id="270" r:id="rId26"/>
    <p:sldId id="489" r:id="rId27"/>
    <p:sldId id="490" r:id="rId28"/>
    <p:sldId id="491" r:id="rId29"/>
    <p:sldId id="492"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4123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7860" autoAdjust="0"/>
  </p:normalViewPr>
  <p:slideViewPr>
    <p:cSldViewPr snapToGrid="0" snapToObjects="1">
      <p:cViewPr varScale="1">
        <p:scale>
          <a:sx n="60" d="100"/>
          <a:sy n="60" d="100"/>
        </p:scale>
        <p:origin x="78" y="92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848B32-384E-4CE1-A037-D20B29FAB1C2}" type="datetimeFigureOut">
              <a:rPr lang="en-US" smtClean="0"/>
              <a:t>5/17/2026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905155-F6A5-441C-B65E-14B7E9EAD456}" type="slidenum">
              <a:rPr lang="en-US" smtClean="0"/>
              <a:t>‹#›</a:t>
            </a:fld>
            <a:endParaRPr lang="en-US"/>
          </a:p>
        </p:txBody>
      </p:sp>
    </p:spTree>
    <p:extLst>
      <p:ext uri="{BB962C8B-B14F-4D97-AF65-F5344CB8AC3E}">
        <p14:creationId xmlns:p14="http://schemas.microsoft.com/office/powerpoint/2010/main" val="28463638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 am Basanth M S, presenting my research work titled SHARP-LLM — which stands for Secure Healthcare-code vulnerability Analysis and Risk Prediction via Lightweight Language Models.</a:t>
            </a:r>
          </a:p>
          <a:p>
            <a:endParaRPr lang="en-US" dirty="0"/>
          </a:p>
          <a:p>
            <a:r>
              <a:rPr lang="en-US" dirty="0"/>
              <a:t>This work was carried out under the guidance of Dr. </a:t>
            </a:r>
            <a:r>
              <a:rPr lang="en-US" dirty="0" err="1"/>
              <a:t>Gopakumar</a:t>
            </a:r>
            <a:r>
              <a:rPr lang="en-US" dirty="0"/>
              <a:t> G at the Department of Computer Science and Engineering, School of Computing, Amrita Vishwa Vidyapeetham, </a:t>
            </a:r>
            <a:r>
              <a:rPr lang="en-US" dirty="0" err="1"/>
              <a:t>Amritapuri</a:t>
            </a:r>
            <a:r>
              <a:rPr lang="en-US" dirty="0"/>
              <a:t>.</a:t>
            </a:r>
          </a:p>
          <a:p>
            <a:endParaRPr lang="en-US" dirty="0"/>
          </a:p>
          <a:p>
            <a:r>
              <a:rPr lang="en-US" dirty="0"/>
              <a:t>The central idea of this work is not </a:t>
            </a:r>
            <a:r>
              <a:rPr lang="en-US" b="1" dirty="0"/>
              <a:t>just</a:t>
            </a:r>
            <a:r>
              <a:rPr lang="en-US" dirty="0"/>
              <a:t> detecting vulnerabilities in source code, but translating those detections into healthcare-specific risk priorities.</a:t>
            </a:r>
          </a:p>
          <a:p>
            <a:endParaRPr lang="en-US" dirty="0"/>
          </a:p>
        </p:txBody>
      </p:sp>
      <p:sp>
        <p:nvSpPr>
          <p:cNvPr id="4" name="Slide Number Placeholder 3"/>
          <p:cNvSpPr>
            <a:spLocks noGrp="1"/>
          </p:cNvSpPr>
          <p:nvPr>
            <p:ph type="sldNum" sz="quarter" idx="5"/>
          </p:nvPr>
        </p:nvSpPr>
        <p:spPr/>
        <p:txBody>
          <a:bodyPr/>
          <a:lstStyle/>
          <a:p>
            <a:fld id="{49905155-F6A5-441C-B65E-14B7E9EAD456}" type="slidenum">
              <a:rPr lang="en-US" smtClean="0"/>
              <a:t>2</a:t>
            </a:fld>
            <a:endParaRPr lang="en-US"/>
          </a:p>
        </p:txBody>
      </p:sp>
    </p:spTree>
    <p:extLst>
      <p:ext uri="{BB962C8B-B14F-4D97-AF65-F5344CB8AC3E}">
        <p14:creationId xmlns:p14="http://schemas.microsoft.com/office/powerpoint/2010/main" val="21024437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Healthcare software is unique because vulnerabilities here have consequences far beyond typical software failures.</a:t>
            </a:r>
          </a:p>
          <a:p>
            <a:endParaRPr lang="en-US" dirty="0"/>
          </a:p>
          <a:p>
            <a:r>
              <a:rPr lang="en-US" dirty="0"/>
              <a:t>A vulnerability in an Electronic Health Records system can expose patient data — names, diagnoses, treatment histories. In clinical decision support, a compromised system could affect diagnostic outcomes. Telemedicine platforms and connected medical devices are increasingly internet-facing, expanding the attack surface.</a:t>
            </a:r>
          </a:p>
          <a:p>
            <a:endParaRPr lang="en-US" dirty="0"/>
          </a:p>
          <a:p>
            <a:r>
              <a:rPr lang="en-US" dirty="0"/>
              <a:t>And there's the regulatory dimension — HIPAA in the US, GDPR in Europe, DISHA and DPDPA in India — non-compliance carries severe penalties.</a:t>
            </a:r>
          </a:p>
          <a:p>
            <a:endParaRPr lang="en-US" dirty="0"/>
          </a:p>
          <a:p>
            <a:r>
              <a:rPr lang="en-US" dirty="0"/>
              <a:t>Now, existing tools for finding these vulnerabilities have limitations. Traditional static analysis tools have high false-positive rates. Recent LLM-based approaches show promise, but they typically require expensive GPU infrastructure — 40 GB or more of VRAM — making them impractical for most development teams.</a:t>
            </a:r>
          </a:p>
          <a:p>
            <a:endParaRPr lang="en-US" dirty="0"/>
          </a:p>
          <a:p>
            <a:r>
              <a:rPr lang="en-US" dirty="0"/>
              <a:t>Most importantly, the existing framework not bridging the gap between "we found a CWE" and "here's how critical this is for your healthcare system." That's the gap SHARP-LLM addresses.</a:t>
            </a:r>
          </a:p>
          <a:p>
            <a:endParaRPr lang="en-US" dirty="0"/>
          </a:p>
        </p:txBody>
      </p:sp>
      <p:sp>
        <p:nvSpPr>
          <p:cNvPr id="4" name="Slide Number Placeholder 3"/>
          <p:cNvSpPr>
            <a:spLocks noGrp="1"/>
          </p:cNvSpPr>
          <p:nvPr>
            <p:ph type="sldNum" sz="quarter" idx="5"/>
          </p:nvPr>
        </p:nvSpPr>
        <p:spPr/>
        <p:txBody>
          <a:bodyPr/>
          <a:lstStyle/>
          <a:p>
            <a:fld id="{49905155-F6A5-441C-B65E-14B7E9EAD456}" type="slidenum">
              <a:rPr lang="en-US" smtClean="0"/>
              <a:t>4</a:t>
            </a:fld>
            <a:endParaRPr lang="en-US"/>
          </a:p>
        </p:txBody>
      </p:sp>
    </p:spTree>
    <p:extLst>
      <p:ext uri="{BB962C8B-B14F-4D97-AF65-F5344CB8AC3E}">
        <p14:creationId xmlns:p14="http://schemas.microsoft.com/office/powerpoint/2010/main" val="30034912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identified two key gaps in the literature.</a:t>
            </a:r>
          </a:p>
          <a:p>
            <a:endParaRPr lang="en-US" dirty="0"/>
          </a:p>
          <a:p>
            <a:r>
              <a:rPr lang="en-US" dirty="0"/>
              <a:t>The first and most critical gap is the absence of domain-specific risk prioritization. Current literature treats all vulnerabilities equally — a buffer overflow gets the same severity whether it's in a video game or in an EHR system handling patient records. But clearly, the impact is very different. A CWE-119 buffer overflow in a system that processes patient data has confidentiality and compliance implications that don't exist in other domains. No existing framework provides this contextual prioritization for healthcare.</a:t>
            </a:r>
          </a:p>
          <a:p>
            <a:endParaRPr lang="en-US" dirty="0"/>
          </a:p>
          <a:p>
            <a:r>
              <a:rPr lang="en-US" dirty="0"/>
              <a:t>The second gap is the scarcity of healthcare-oriented security resources. There is very limited work that maps technical CWE findings to privacy threats relevant to healthcare — things like patient data </a:t>
            </a:r>
            <a:r>
              <a:rPr lang="en-US" dirty="0" err="1"/>
              <a:t>linkability</a:t>
            </a:r>
            <a:r>
              <a:rPr lang="en-US" dirty="0"/>
              <a:t>, identifiability, or regulatory non-compliance. The missing link is translating raw technical vulnerability findings into signals that healthcare security teams can act on.</a:t>
            </a:r>
          </a:p>
          <a:p>
            <a:endParaRPr lang="en-US" dirty="0"/>
          </a:p>
        </p:txBody>
      </p:sp>
      <p:sp>
        <p:nvSpPr>
          <p:cNvPr id="4" name="Slide Number Placeholder 3"/>
          <p:cNvSpPr>
            <a:spLocks noGrp="1"/>
          </p:cNvSpPr>
          <p:nvPr>
            <p:ph type="sldNum" sz="quarter" idx="5"/>
          </p:nvPr>
        </p:nvSpPr>
        <p:spPr/>
        <p:txBody>
          <a:bodyPr/>
          <a:lstStyle/>
          <a:p>
            <a:fld id="{49905155-F6A5-441C-B65E-14B7E9EAD456}" type="slidenum">
              <a:rPr lang="en-US" smtClean="0"/>
              <a:t>9</a:t>
            </a:fld>
            <a:endParaRPr lang="en-US"/>
          </a:p>
        </p:txBody>
      </p:sp>
    </p:spTree>
    <p:extLst>
      <p:ext uri="{BB962C8B-B14F-4D97-AF65-F5344CB8AC3E}">
        <p14:creationId xmlns:p14="http://schemas.microsoft.com/office/powerpoint/2010/main" val="6440540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primary contribution is the Healthcare-Oriented Risk Prioritization Pipeline. This is a three-stage post-analysis pipeline. First, we map each detected CWE to LINDDUN privacy threat types — these include </a:t>
            </a:r>
            <a:r>
              <a:rPr lang="en-US" dirty="0" err="1"/>
              <a:t>linkability</a:t>
            </a:r>
            <a:r>
              <a:rPr lang="en-US" dirty="0"/>
              <a:t>, identifiability, information disclosure, and others. Then we map those threats to policy-relevant control domains like confidentiality protection and access control. Finally, we compute a weighted risk score that produces ordinal priority levels — Critical, High, Medium, or Low.</a:t>
            </a:r>
          </a:p>
          <a:p>
            <a:endParaRPr lang="en-US" dirty="0"/>
          </a:p>
          <a:p>
            <a:r>
              <a:rPr lang="en-US" dirty="0"/>
              <a:t>This transforms a raw CWE prediction like "CWE-119 detected with 95% confidence" into an actionable statement like "Critical priority — this buffer overflow in a patient data module threatens data confidentiality and violates access control requirements."</a:t>
            </a:r>
          </a:p>
          <a:p>
            <a:endParaRPr lang="en-US" dirty="0"/>
          </a:p>
          <a:p>
            <a:r>
              <a:rPr lang="en-US" dirty="0"/>
              <a:t>Our second contribution is demonstrating that lightweight models — 35 to 125 million parameters — can perform CWE classification at good quality on consumer-grade hardware. All our models run on an 8 GB VRAM laptop GPU with fast inference, making them viable for integration into CI/CD pipelines or IDE plugins. We classify into 118 CWE categories — this is multi-class classification, not just binary vulnerable-or-not detection.</a:t>
            </a:r>
          </a:p>
          <a:p>
            <a:endParaRPr lang="en-US" dirty="0"/>
          </a:p>
        </p:txBody>
      </p:sp>
      <p:sp>
        <p:nvSpPr>
          <p:cNvPr id="4" name="Slide Number Placeholder 3"/>
          <p:cNvSpPr>
            <a:spLocks noGrp="1"/>
          </p:cNvSpPr>
          <p:nvPr>
            <p:ph type="sldNum" sz="quarter" idx="5"/>
          </p:nvPr>
        </p:nvSpPr>
        <p:spPr/>
        <p:txBody>
          <a:bodyPr/>
          <a:lstStyle/>
          <a:p>
            <a:fld id="{49905155-F6A5-441C-B65E-14B7E9EAD456}" type="slidenum">
              <a:rPr lang="en-US" smtClean="0"/>
              <a:t>12</a:t>
            </a:fld>
            <a:endParaRPr lang="en-US"/>
          </a:p>
        </p:txBody>
      </p:sp>
    </p:spTree>
    <p:extLst>
      <p:ext uri="{BB962C8B-B14F-4D97-AF65-F5344CB8AC3E}">
        <p14:creationId xmlns:p14="http://schemas.microsoft.com/office/powerpoint/2010/main" val="28552908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slide shows the SHARP-LLM pipeline diagram.</a:t>
            </a:r>
          </a:p>
          <a:p>
            <a:endParaRPr dirty="0"/>
          </a:p>
          <a:p>
            <a:r>
              <a:rPr dirty="0"/>
              <a:t>We use the NIST Juliet Test Suite for C/C++ version 1.3 </a:t>
            </a:r>
            <a:r>
              <a:rPr lang="en-US" dirty="0"/>
              <a:t>and Big-</a:t>
            </a:r>
            <a:r>
              <a:rPr lang="en-US" dirty="0" err="1"/>
              <a:t>Vul</a:t>
            </a:r>
            <a:r>
              <a:rPr lang="en-US" dirty="0"/>
              <a:t> datasets as</a:t>
            </a:r>
            <a:r>
              <a:rPr dirty="0"/>
              <a:t> our dataset</a:t>
            </a:r>
            <a:r>
              <a:rPr lang="en-US" dirty="0"/>
              <a:t>s.</a:t>
            </a:r>
            <a:r>
              <a:rPr dirty="0"/>
              <a:t> </a:t>
            </a:r>
          </a:p>
          <a:p>
            <a:endParaRPr dirty="0"/>
          </a:p>
          <a:p>
            <a:r>
              <a:rPr dirty="0"/>
              <a:t>The code goes through a 4-stage preprocessing pipeline: header removal, comment stripping, guard removal, and whitespace normalization.</a:t>
            </a:r>
          </a:p>
          <a:p>
            <a:endParaRPr dirty="0"/>
          </a:p>
          <a:p>
            <a:r>
              <a:rPr dirty="0"/>
              <a:t>We evaluated models across three paradigms: full encoder fine-tuning with CodeT5-Small, CodeT5-Base, </a:t>
            </a:r>
            <a:r>
              <a:rPr dirty="0" err="1"/>
              <a:t>CodeBERT</a:t>
            </a:r>
            <a:r>
              <a:rPr dirty="0"/>
              <a:t>, and </a:t>
            </a:r>
            <a:r>
              <a:rPr dirty="0" err="1"/>
              <a:t>GraphCodeBERT</a:t>
            </a:r>
            <a:r>
              <a:rPr dirty="0"/>
              <a:t>; </a:t>
            </a:r>
            <a:r>
              <a:rPr dirty="0" err="1"/>
              <a:t>QLoRA</a:t>
            </a:r>
            <a:r>
              <a:rPr dirty="0"/>
              <a:t> parameter-efficient fine-tuning with CodeGemma-2B; and zero-shot generative inference with CodeGemma-2B and Gemma-4.</a:t>
            </a:r>
          </a:p>
          <a:p>
            <a:endParaRPr dirty="0"/>
          </a:p>
          <a:p>
            <a:r>
              <a:rPr dirty="0"/>
              <a:t>After classification, the healthcare risk prioritization layer takes over — which I'll detail on the next slide.</a:t>
            </a:r>
          </a:p>
        </p:txBody>
      </p:sp>
      <p:sp>
        <p:nvSpPr>
          <p:cNvPr id="4" name="Slide Number Placeholder 3"/>
          <p:cNvSpPr>
            <a:spLocks noGrp="1"/>
          </p:cNvSpPr>
          <p:nvPr>
            <p:ph type="sldNum" sz="quarter" idx="5"/>
          </p:nvPr>
        </p:nvSpPr>
        <p:spPr/>
        <p:txBody>
          <a:bodyPr/>
          <a:lstStyle/>
          <a:p>
            <a:fld id="{49905155-F6A5-441C-B65E-14B7E9EAD456}" type="slidenum">
              <a:rPr lang="en-US" smtClean="0"/>
              <a:t>18</a:t>
            </a:fld>
            <a:endParaRPr lang="en-US"/>
          </a:p>
        </p:txBody>
      </p:sp>
    </p:spTree>
    <p:extLst>
      <p:ext uri="{BB962C8B-B14F-4D97-AF65-F5344CB8AC3E}">
        <p14:creationId xmlns:p14="http://schemas.microsoft.com/office/powerpoint/2010/main" val="35080853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the core contribution of our work — the healthcare risk prioritization pipeline.</a:t>
            </a:r>
          </a:p>
          <a:p>
            <a:endParaRPr dirty="0"/>
          </a:p>
          <a:p>
            <a:r>
              <a:rPr dirty="0"/>
              <a:t>Step 1 applies a risk categorization </a:t>
            </a:r>
            <a:r>
              <a:rPr lang="en-US" dirty="0"/>
              <a:t>to </a:t>
            </a:r>
            <a:r>
              <a:rPr dirty="0"/>
              <a:t>the detected CWE. This maps each CWE to one or more LINDDUN privacy threat types. For example, CWE-200 — Information Exposure — maps to Information Disclosure and Identifiability threat types.</a:t>
            </a:r>
          </a:p>
          <a:p>
            <a:endParaRPr dirty="0"/>
          </a:p>
          <a:p>
            <a:r>
              <a:rPr dirty="0"/>
              <a:t>Step 2 applies a control domain mapping function. This maps risk categories to policy-relevant control domains — confidentiality protection, access control, audit and accountability, secure data handling, and service availability.</a:t>
            </a:r>
          </a:p>
          <a:p>
            <a:endParaRPr dirty="0"/>
          </a:p>
          <a:p>
            <a:r>
              <a:rPr dirty="0"/>
              <a:t>Step 3 computes the final weighted risk score P using five factors: model confidence s, technical severity E, data sensitivity D, service and safety impact S, and control domain importance C-prime. The weights lambda-1 through lambda-5 can be configured per healthcare deployment context.</a:t>
            </a:r>
          </a:p>
          <a:p>
            <a:endParaRPr dirty="0"/>
          </a:p>
          <a:p>
            <a:r>
              <a:rPr dirty="0"/>
              <a:t>The output is an ordinal priority level — Critical, High, Medium, or Low — that directly guides remediation decisions. This means a security team doesn't just see "CWE-119 detected" — they see "Critical: this affects patient data confidentiality in a system subject to HIPAA compliance, prioritize immediate remediation.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classification results on the full test set of 22,447 samples.</a:t>
            </a:r>
          </a:p>
          <a:p>
            <a:endParaRPr lang="en-US" dirty="0"/>
          </a:p>
          <a:p>
            <a:r>
              <a:rPr lang="en-US" dirty="0"/>
              <a:t>Among the fine-tuned encoder models, CodeT5-Base achieved the highest macro-F1 of 0.9605 with 99.73% accuracy and 24.9 milliseconds inference latency. CodeT5-Small, despite having only 35 million parameters, achieved 0.9533 F1 with the fastest inference at 17.2 milliseconds.</a:t>
            </a:r>
          </a:p>
          <a:p>
            <a:endParaRPr lang="en-US" dirty="0"/>
          </a:p>
          <a:p>
            <a:r>
              <a:rPr lang="en-US" dirty="0" err="1"/>
              <a:t>GraphCodeBERT</a:t>
            </a:r>
            <a:r>
              <a:rPr lang="en-US" dirty="0"/>
              <a:t> and </a:t>
            </a:r>
            <a:r>
              <a:rPr lang="en-US" dirty="0" err="1"/>
              <a:t>CodeBERT</a:t>
            </a:r>
            <a:r>
              <a:rPr lang="en-US" dirty="0"/>
              <a:t>, both at 125 million parameters, achieved 0.9530 and 0.9512 F1 respectively.</a:t>
            </a:r>
          </a:p>
          <a:p>
            <a:endParaRPr lang="en-US" dirty="0"/>
          </a:p>
          <a:p>
            <a:r>
              <a:rPr lang="en-US" dirty="0"/>
              <a:t>The </a:t>
            </a:r>
            <a:r>
              <a:rPr lang="en-US" dirty="0" err="1"/>
              <a:t>QLoRA</a:t>
            </a:r>
            <a:r>
              <a:rPr lang="en-US" dirty="0"/>
              <a:t> approach with CodeGemma-2B achieved 0.9168 F1 while training only 0.5% of its parameters and using just 1.8 GB of memory — demonstrating that parameter-efficient fine-tuning is viable even on constrained hardware.</a:t>
            </a:r>
          </a:p>
          <a:p>
            <a:endParaRPr lang="en-US" dirty="0"/>
          </a:p>
          <a:p>
            <a:r>
              <a:rPr lang="en-US" dirty="0"/>
              <a:t>The key takeaway here is that these lightweight models provide the classification backbone that feeds into our risk prioritization pipeline. The detection quality is strong enough to support reliable downstream risk assessment.</a:t>
            </a:r>
          </a:p>
          <a:p>
            <a:endParaRPr lang="en-US" dirty="0"/>
          </a:p>
        </p:txBody>
      </p:sp>
      <p:sp>
        <p:nvSpPr>
          <p:cNvPr id="4" name="Slide Number Placeholder 3"/>
          <p:cNvSpPr>
            <a:spLocks noGrp="1"/>
          </p:cNvSpPr>
          <p:nvPr>
            <p:ph type="sldNum" sz="quarter" idx="5"/>
          </p:nvPr>
        </p:nvSpPr>
        <p:spPr/>
        <p:txBody>
          <a:bodyPr/>
          <a:lstStyle/>
          <a:p>
            <a:fld id="{49905155-F6A5-441C-B65E-14B7E9EAD456}" type="slidenum">
              <a:rPr lang="en-US" smtClean="0"/>
              <a:t>22</a:t>
            </a:fld>
            <a:endParaRPr lang="en-US"/>
          </a:p>
        </p:txBody>
      </p:sp>
    </p:spTree>
    <p:extLst>
      <p:ext uri="{BB962C8B-B14F-4D97-AF65-F5344CB8AC3E}">
        <p14:creationId xmlns:p14="http://schemas.microsoft.com/office/powerpoint/2010/main" val="23704151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First, our experiments use only the Juliet Test Suite — which is synthetic, template-generated code. It lacks the complexity of real-world software — multi-file dependencies, third-party libraries, non-standard coding styles. Models trained on Juliet may not generalize directly to production healthcare codebases without additional fine-tuning or domain adaptation. We have begun experiments with the Big-</a:t>
            </a:r>
            <a:r>
              <a:rPr dirty="0" err="1"/>
              <a:t>Vul</a:t>
            </a:r>
            <a:r>
              <a:rPr dirty="0"/>
              <a:t> real-world vulnerability dataset, and early results show that real-world code remains significantly more challenging.</a:t>
            </a:r>
          </a:p>
          <a:p>
            <a:endParaRPr dirty="0"/>
          </a:p>
          <a:p>
            <a:r>
              <a:rPr dirty="0"/>
              <a:t>Second, and importantly, the risk prioritization pipeline — while theoretically grounded in LINDDUN and established security frameworks — has not yet been empirically validated on real healthcare security incidents. The CWE-to-LINDDUN mapping and the weighted scoring formula need validation against actual healthcare breach data. This is a clear direction for future work.</a:t>
            </a:r>
          </a:p>
          <a:p>
            <a:endParaRPr dirty="0"/>
          </a:p>
          <a:p>
            <a:r>
              <a:rPr dirty="0"/>
              <a:t>Third, all models truncate input at 256 tokens. This is sufficient for Juliet's short, self-contained functions, but real-world vulnerable code often spans hundreds of lines. Extending the context window is necessary for production deployment.</a:t>
            </a:r>
          </a:p>
          <a:p>
            <a:endParaRPr dirty="0"/>
          </a:p>
          <a:p>
            <a:r>
              <a:rPr dirty="0"/>
              <a:t>These limitations are acknowledged transparently, and each points to concrete future work directions.</a:t>
            </a:r>
          </a:p>
          <a:p>
            <a:endParaRPr dirty="0"/>
          </a:p>
          <a:p>
            <a:r>
              <a:rPr dirty="0"/>
              <a:t>Thank you.</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4_Custom Layout 1 1">
  <p:cSld name="4_Custom Layout 1 1">
    <p:spTree>
      <p:nvGrpSpPr>
        <p:cNvPr id="1" name="Shape 1716"/>
        <p:cNvGrpSpPr/>
        <p:nvPr/>
      </p:nvGrpSpPr>
      <p:grpSpPr>
        <a:xfrm>
          <a:off x="0" y="0"/>
          <a:ext cx="0" cy="0"/>
          <a:chOff x="0" y="0"/>
          <a:chExt cx="0" cy="0"/>
        </a:xfrm>
      </p:grpSpPr>
      <p:pic>
        <p:nvPicPr>
          <p:cNvPr id="1717" name="Google Shape;1717;p21"/>
          <p:cNvPicPr preferRelativeResize="0"/>
          <p:nvPr/>
        </p:nvPicPr>
        <p:blipFill rotWithShape="1">
          <a:blip r:embed="rId2">
            <a:alphaModFix/>
          </a:blip>
          <a:srcRect/>
          <a:stretch/>
        </p:blipFill>
        <p:spPr>
          <a:xfrm>
            <a:off x="1" y="6284784"/>
            <a:ext cx="12218981" cy="574407"/>
          </a:xfrm>
          <a:prstGeom prst="rect">
            <a:avLst/>
          </a:prstGeom>
          <a:noFill/>
          <a:ln>
            <a:noFill/>
          </a:ln>
        </p:spPr>
      </p:pic>
      <p:pic>
        <p:nvPicPr>
          <p:cNvPr id="1718" name="Google Shape;1718;p21"/>
          <p:cNvPicPr preferRelativeResize="0"/>
          <p:nvPr/>
        </p:nvPicPr>
        <p:blipFill rotWithShape="1">
          <a:blip r:embed="rId3">
            <a:alphaModFix/>
          </a:blip>
          <a:srcRect/>
          <a:stretch/>
        </p:blipFill>
        <p:spPr>
          <a:xfrm>
            <a:off x="10404389" y="6389103"/>
            <a:ext cx="1602539" cy="360290"/>
          </a:xfrm>
          <a:prstGeom prst="rect">
            <a:avLst/>
          </a:prstGeom>
          <a:noFill/>
          <a:ln>
            <a:noFill/>
          </a:ln>
        </p:spPr>
      </p:pic>
      <p:sp>
        <p:nvSpPr>
          <p:cNvPr id="1719" name="Google Shape;1719;p21"/>
          <p:cNvSpPr txBox="1">
            <a:spLocks noGrp="1"/>
          </p:cNvSpPr>
          <p:nvPr>
            <p:ph type="sldNum" idx="12"/>
          </p:nvPr>
        </p:nvSpPr>
        <p:spPr>
          <a:xfrm>
            <a:off x="190501" y="6381064"/>
            <a:ext cx="2743200" cy="365100"/>
          </a:xfrm>
          <a:prstGeom prst="rect">
            <a:avLst/>
          </a:prstGeom>
          <a:noFill/>
          <a:ln>
            <a:noFill/>
          </a:ln>
        </p:spPr>
        <p:txBody>
          <a:bodyPr spcFirstLastPara="1" wrap="square" lIns="91425" tIns="45700" rIns="91425" bIns="45700" anchor="ctr" anchorCtr="0">
            <a:noAutofit/>
          </a:bodyPr>
          <a:lstStyle>
            <a:lvl1pPr marL="0" lvl="0" indent="0" algn="l" rtl="0">
              <a:spcBef>
                <a:spcPts val="0"/>
              </a:spcBef>
              <a:buClr>
                <a:schemeClr val="accent4"/>
              </a:buClr>
              <a:buSzPts val="1200"/>
              <a:buFont typeface="Arial"/>
              <a:buNone/>
              <a:defRPr sz="1200" b="0" i="0" u="none" strike="noStrike" cap="none">
                <a:solidFill>
                  <a:schemeClr val="accent4"/>
                </a:solidFill>
                <a:latin typeface="Arial"/>
                <a:ea typeface="Arial"/>
                <a:cs typeface="Arial"/>
                <a:sym typeface="Arial"/>
              </a:defRPr>
            </a:lvl1pPr>
            <a:lvl2pPr marL="0" lvl="1" indent="0" algn="l" rtl="0">
              <a:spcBef>
                <a:spcPts val="0"/>
              </a:spcBef>
              <a:buClr>
                <a:schemeClr val="accent4"/>
              </a:buClr>
              <a:buSzPts val="1200"/>
              <a:buFont typeface="Arial"/>
              <a:buNone/>
              <a:defRPr sz="1200" b="0" i="0" u="none" strike="noStrike" cap="none">
                <a:solidFill>
                  <a:schemeClr val="accent4"/>
                </a:solidFill>
                <a:latin typeface="Arial"/>
                <a:ea typeface="Arial"/>
                <a:cs typeface="Arial"/>
                <a:sym typeface="Arial"/>
              </a:defRPr>
            </a:lvl2pPr>
            <a:lvl3pPr marL="0" lvl="2" indent="0" algn="l" rtl="0">
              <a:spcBef>
                <a:spcPts val="0"/>
              </a:spcBef>
              <a:buClr>
                <a:schemeClr val="accent4"/>
              </a:buClr>
              <a:buSzPts val="1200"/>
              <a:buFont typeface="Arial"/>
              <a:buNone/>
              <a:defRPr sz="1200" b="0" i="0" u="none" strike="noStrike" cap="none">
                <a:solidFill>
                  <a:schemeClr val="accent4"/>
                </a:solidFill>
                <a:latin typeface="Arial"/>
                <a:ea typeface="Arial"/>
                <a:cs typeface="Arial"/>
                <a:sym typeface="Arial"/>
              </a:defRPr>
            </a:lvl3pPr>
            <a:lvl4pPr marL="0" lvl="3" indent="0" algn="l" rtl="0">
              <a:spcBef>
                <a:spcPts val="0"/>
              </a:spcBef>
              <a:buClr>
                <a:schemeClr val="accent4"/>
              </a:buClr>
              <a:buSzPts val="1200"/>
              <a:buFont typeface="Arial"/>
              <a:buNone/>
              <a:defRPr sz="1200" b="0" i="0" u="none" strike="noStrike" cap="none">
                <a:solidFill>
                  <a:schemeClr val="accent4"/>
                </a:solidFill>
                <a:latin typeface="Arial"/>
                <a:ea typeface="Arial"/>
                <a:cs typeface="Arial"/>
                <a:sym typeface="Arial"/>
              </a:defRPr>
            </a:lvl4pPr>
            <a:lvl5pPr marL="0" lvl="4" indent="0" algn="l" rtl="0">
              <a:spcBef>
                <a:spcPts val="0"/>
              </a:spcBef>
              <a:buClr>
                <a:schemeClr val="accent4"/>
              </a:buClr>
              <a:buSzPts val="1200"/>
              <a:buFont typeface="Arial"/>
              <a:buNone/>
              <a:defRPr sz="1200" b="0" i="0" u="none" strike="noStrike" cap="none">
                <a:solidFill>
                  <a:schemeClr val="accent4"/>
                </a:solidFill>
                <a:latin typeface="Arial"/>
                <a:ea typeface="Arial"/>
                <a:cs typeface="Arial"/>
                <a:sym typeface="Arial"/>
              </a:defRPr>
            </a:lvl5pPr>
            <a:lvl6pPr marL="0" lvl="5" indent="0" algn="l" rtl="0">
              <a:spcBef>
                <a:spcPts val="0"/>
              </a:spcBef>
              <a:buClr>
                <a:schemeClr val="accent4"/>
              </a:buClr>
              <a:buSzPts val="1200"/>
              <a:buFont typeface="Arial"/>
              <a:buNone/>
              <a:defRPr sz="1200" b="0" i="0" u="none" strike="noStrike" cap="none">
                <a:solidFill>
                  <a:schemeClr val="accent4"/>
                </a:solidFill>
                <a:latin typeface="Arial"/>
                <a:ea typeface="Arial"/>
                <a:cs typeface="Arial"/>
                <a:sym typeface="Arial"/>
              </a:defRPr>
            </a:lvl6pPr>
            <a:lvl7pPr marL="0" lvl="6" indent="0" algn="l" rtl="0">
              <a:spcBef>
                <a:spcPts val="0"/>
              </a:spcBef>
              <a:buClr>
                <a:schemeClr val="accent4"/>
              </a:buClr>
              <a:buSzPts val="1200"/>
              <a:buFont typeface="Arial"/>
              <a:buNone/>
              <a:defRPr sz="1200" b="0" i="0" u="none" strike="noStrike" cap="none">
                <a:solidFill>
                  <a:schemeClr val="accent4"/>
                </a:solidFill>
                <a:latin typeface="Arial"/>
                <a:ea typeface="Arial"/>
                <a:cs typeface="Arial"/>
                <a:sym typeface="Arial"/>
              </a:defRPr>
            </a:lvl7pPr>
            <a:lvl8pPr marL="0" lvl="7" indent="0" algn="l" rtl="0">
              <a:spcBef>
                <a:spcPts val="0"/>
              </a:spcBef>
              <a:buClr>
                <a:schemeClr val="accent4"/>
              </a:buClr>
              <a:buSzPts val="1200"/>
              <a:buFont typeface="Arial"/>
              <a:buNone/>
              <a:defRPr sz="1200" b="0" i="0" u="none" strike="noStrike" cap="none">
                <a:solidFill>
                  <a:schemeClr val="accent4"/>
                </a:solidFill>
                <a:latin typeface="Arial"/>
                <a:ea typeface="Arial"/>
                <a:cs typeface="Arial"/>
                <a:sym typeface="Arial"/>
              </a:defRPr>
            </a:lvl8pPr>
            <a:lvl9pPr marL="0" lvl="8" indent="0" algn="l" rtl="0">
              <a:spcBef>
                <a:spcPts val="0"/>
              </a:spcBef>
              <a:buClr>
                <a:schemeClr val="accent4"/>
              </a:buClr>
              <a:buSzPts val="1200"/>
              <a:buFont typeface="Arial"/>
              <a:buNone/>
              <a:defRPr sz="1200" b="0" i="0" u="none" strike="noStrike" cap="none">
                <a:solidFill>
                  <a:schemeClr val="accent4"/>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
        <p:nvSpPr>
          <p:cNvPr id="1720" name="Google Shape;1720;p21"/>
          <p:cNvSpPr txBox="1">
            <a:spLocks noGrp="1"/>
          </p:cNvSpPr>
          <p:nvPr>
            <p:ph type="title"/>
          </p:nvPr>
        </p:nvSpPr>
        <p:spPr>
          <a:xfrm>
            <a:off x="1248637" y="757654"/>
            <a:ext cx="10515600" cy="4215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rgbClr val="A4123F"/>
              </a:buClr>
              <a:buSzPts val="4000"/>
              <a:buFont typeface="Georgia"/>
              <a:buNone/>
              <a:defRPr sz="4000" b="0">
                <a:solidFill>
                  <a:srgbClr val="A4123F"/>
                </a:solidFill>
                <a:latin typeface="Georgia"/>
                <a:ea typeface="Georgia"/>
                <a:cs typeface="Georgia"/>
                <a:sym typeface="Georgia"/>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cxnSp>
        <p:nvCxnSpPr>
          <p:cNvPr id="1721" name="Google Shape;1721;p21"/>
          <p:cNvCxnSpPr/>
          <p:nvPr/>
        </p:nvCxnSpPr>
        <p:spPr>
          <a:xfrm>
            <a:off x="495301" y="1600096"/>
            <a:ext cx="11049000" cy="0"/>
          </a:xfrm>
          <a:prstGeom prst="straightConnector1">
            <a:avLst/>
          </a:prstGeom>
          <a:noFill/>
          <a:ln w="9525" cap="flat" cmpd="sng">
            <a:solidFill>
              <a:srgbClr val="A4123F"/>
            </a:solidFill>
            <a:prstDash val="solid"/>
            <a:miter lim="800000"/>
            <a:headEnd type="none" w="sm" len="sm"/>
            <a:tailEnd type="none" w="sm" len="sm"/>
          </a:ln>
        </p:spPr>
      </p:cxnSp>
      <p:pic>
        <p:nvPicPr>
          <p:cNvPr id="1722" name="Google Shape;1722;p21"/>
          <p:cNvPicPr preferRelativeResize="0"/>
          <p:nvPr/>
        </p:nvPicPr>
        <p:blipFill rotWithShape="1">
          <a:blip r:embed="rId4">
            <a:alphaModFix/>
          </a:blip>
          <a:srcRect r="81454" b="8525"/>
          <a:stretch/>
        </p:blipFill>
        <p:spPr>
          <a:xfrm>
            <a:off x="495301" y="757657"/>
            <a:ext cx="583356" cy="712277"/>
          </a:xfrm>
          <a:prstGeom prst="rect">
            <a:avLst/>
          </a:prstGeom>
          <a:noFill/>
          <a:ln>
            <a:noFill/>
          </a:ln>
        </p:spPr>
      </p:pic>
      <p:cxnSp>
        <p:nvCxnSpPr>
          <p:cNvPr id="1723" name="Google Shape;1723;p21"/>
          <p:cNvCxnSpPr/>
          <p:nvPr/>
        </p:nvCxnSpPr>
        <p:spPr>
          <a:xfrm>
            <a:off x="1202479" y="757655"/>
            <a:ext cx="0" cy="703500"/>
          </a:xfrm>
          <a:prstGeom prst="straightConnector1">
            <a:avLst/>
          </a:prstGeom>
          <a:noFill/>
          <a:ln w="9525" cap="flat" cmpd="sng">
            <a:solidFill>
              <a:schemeClr val="dk1"/>
            </a:solidFill>
            <a:prstDash val="solid"/>
            <a:miter lim="800000"/>
            <a:headEnd type="none" w="sm" len="sm"/>
            <a:tailEnd type="none" w="sm" len="sm"/>
          </a:ln>
        </p:spPr>
      </p:cxnSp>
    </p:spTree>
    <p:extLst>
      <p:ext uri="{BB962C8B-B14F-4D97-AF65-F5344CB8AC3E}">
        <p14:creationId xmlns:p14="http://schemas.microsoft.com/office/powerpoint/2010/main" val="42344726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4_Custom Layout 1">
  <p:cSld name="4_Custom Layout 1">
    <p:spTree>
      <p:nvGrpSpPr>
        <p:cNvPr id="1" name="Shape 1706"/>
        <p:cNvGrpSpPr/>
        <p:nvPr/>
      </p:nvGrpSpPr>
      <p:grpSpPr>
        <a:xfrm>
          <a:off x="0" y="0"/>
          <a:ext cx="0" cy="0"/>
          <a:chOff x="0" y="0"/>
          <a:chExt cx="0" cy="0"/>
        </a:xfrm>
      </p:grpSpPr>
      <p:pic>
        <p:nvPicPr>
          <p:cNvPr id="1707" name="Google Shape;1707;p20"/>
          <p:cNvPicPr preferRelativeResize="0"/>
          <p:nvPr/>
        </p:nvPicPr>
        <p:blipFill rotWithShape="1">
          <a:blip r:embed="rId2">
            <a:alphaModFix/>
          </a:blip>
          <a:srcRect/>
          <a:stretch/>
        </p:blipFill>
        <p:spPr>
          <a:xfrm>
            <a:off x="1" y="6284784"/>
            <a:ext cx="12218981" cy="574407"/>
          </a:xfrm>
          <a:prstGeom prst="rect">
            <a:avLst/>
          </a:prstGeom>
          <a:noFill/>
          <a:ln>
            <a:noFill/>
          </a:ln>
        </p:spPr>
      </p:pic>
      <p:pic>
        <p:nvPicPr>
          <p:cNvPr id="1708" name="Google Shape;1708;p20"/>
          <p:cNvPicPr preferRelativeResize="0"/>
          <p:nvPr/>
        </p:nvPicPr>
        <p:blipFill rotWithShape="1">
          <a:blip r:embed="rId3">
            <a:alphaModFix/>
          </a:blip>
          <a:srcRect/>
          <a:stretch/>
        </p:blipFill>
        <p:spPr>
          <a:xfrm>
            <a:off x="10404389" y="6389103"/>
            <a:ext cx="1602539" cy="360290"/>
          </a:xfrm>
          <a:prstGeom prst="rect">
            <a:avLst/>
          </a:prstGeom>
          <a:noFill/>
          <a:ln>
            <a:noFill/>
          </a:ln>
        </p:spPr>
      </p:pic>
      <p:sp>
        <p:nvSpPr>
          <p:cNvPr id="1709" name="Google Shape;1709;p20"/>
          <p:cNvSpPr txBox="1">
            <a:spLocks noGrp="1"/>
          </p:cNvSpPr>
          <p:nvPr>
            <p:ph type="sldNum" idx="12"/>
          </p:nvPr>
        </p:nvSpPr>
        <p:spPr>
          <a:xfrm>
            <a:off x="190501" y="6381067"/>
            <a:ext cx="2743200" cy="365100"/>
          </a:xfrm>
          <a:prstGeom prst="rect">
            <a:avLst/>
          </a:prstGeom>
          <a:noFill/>
          <a:ln>
            <a:noFill/>
          </a:ln>
        </p:spPr>
        <p:txBody>
          <a:bodyPr spcFirstLastPara="1" wrap="square" lIns="91425" tIns="45700" rIns="91425" bIns="45700" anchor="ctr" anchorCtr="0">
            <a:noAutofit/>
          </a:bodyPr>
          <a:lstStyle>
            <a:lvl1pPr marL="0" lvl="0" indent="0" algn="l" rtl="0">
              <a:spcBef>
                <a:spcPts val="0"/>
              </a:spcBef>
              <a:buClr>
                <a:schemeClr val="accent4"/>
              </a:buClr>
              <a:buSzPts val="1200"/>
              <a:buFont typeface="Arial"/>
              <a:buNone/>
              <a:defRPr sz="1200" b="0" i="0" u="none" strike="noStrike" cap="none">
                <a:solidFill>
                  <a:schemeClr val="accent4"/>
                </a:solidFill>
                <a:latin typeface="Arial"/>
                <a:ea typeface="Arial"/>
                <a:cs typeface="Arial"/>
                <a:sym typeface="Arial"/>
              </a:defRPr>
            </a:lvl1pPr>
            <a:lvl2pPr marL="0" lvl="1" indent="0" algn="l" rtl="0">
              <a:spcBef>
                <a:spcPts val="0"/>
              </a:spcBef>
              <a:buClr>
                <a:schemeClr val="accent4"/>
              </a:buClr>
              <a:buSzPts val="1200"/>
              <a:buFont typeface="Arial"/>
              <a:buNone/>
              <a:defRPr sz="1200" b="0" i="0" u="none" strike="noStrike" cap="none">
                <a:solidFill>
                  <a:schemeClr val="accent4"/>
                </a:solidFill>
                <a:latin typeface="Arial"/>
                <a:ea typeface="Arial"/>
                <a:cs typeface="Arial"/>
                <a:sym typeface="Arial"/>
              </a:defRPr>
            </a:lvl2pPr>
            <a:lvl3pPr marL="0" lvl="2" indent="0" algn="l" rtl="0">
              <a:spcBef>
                <a:spcPts val="0"/>
              </a:spcBef>
              <a:buClr>
                <a:schemeClr val="accent4"/>
              </a:buClr>
              <a:buSzPts val="1200"/>
              <a:buFont typeface="Arial"/>
              <a:buNone/>
              <a:defRPr sz="1200" b="0" i="0" u="none" strike="noStrike" cap="none">
                <a:solidFill>
                  <a:schemeClr val="accent4"/>
                </a:solidFill>
                <a:latin typeface="Arial"/>
                <a:ea typeface="Arial"/>
                <a:cs typeface="Arial"/>
                <a:sym typeface="Arial"/>
              </a:defRPr>
            </a:lvl3pPr>
            <a:lvl4pPr marL="0" lvl="3" indent="0" algn="l" rtl="0">
              <a:spcBef>
                <a:spcPts val="0"/>
              </a:spcBef>
              <a:buClr>
                <a:schemeClr val="accent4"/>
              </a:buClr>
              <a:buSzPts val="1200"/>
              <a:buFont typeface="Arial"/>
              <a:buNone/>
              <a:defRPr sz="1200" b="0" i="0" u="none" strike="noStrike" cap="none">
                <a:solidFill>
                  <a:schemeClr val="accent4"/>
                </a:solidFill>
                <a:latin typeface="Arial"/>
                <a:ea typeface="Arial"/>
                <a:cs typeface="Arial"/>
                <a:sym typeface="Arial"/>
              </a:defRPr>
            </a:lvl4pPr>
            <a:lvl5pPr marL="0" lvl="4" indent="0" algn="l" rtl="0">
              <a:spcBef>
                <a:spcPts val="0"/>
              </a:spcBef>
              <a:buClr>
                <a:schemeClr val="accent4"/>
              </a:buClr>
              <a:buSzPts val="1200"/>
              <a:buFont typeface="Arial"/>
              <a:buNone/>
              <a:defRPr sz="1200" b="0" i="0" u="none" strike="noStrike" cap="none">
                <a:solidFill>
                  <a:schemeClr val="accent4"/>
                </a:solidFill>
                <a:latin typeface="Arial"/>
                <a:ea typeface="Arial"/>
                <a:cs typeface="Arial"/>
                <a:sym typeface="Arial"/>
              </a:defRPr>
            </a:lvl5pPr>
            <a:lvl6pPr marL="0" lvl="5" indent="0" algn="l" rtl="0">
              <a:spcBef>
                <a:spcPts val="0"/>
              </a:spcBef>
              <a:buClr>
                <a:schemeClr val="accent4"/>
              </a:buClr>
              <a:buSzPts val="1200"/>
              <a:buFont typeface="Arial"/>
              <a:buNone/>
              <a:defRPr sz="1200" b="0" i="0" u="none" strike="noStrike" cap="none">
                <a:solidFill>
                  <a:schemeClr val="accent4"/>
                </a:solidFill>
                <a:latin typeface="Arial"/>
                <a:ea typeface="Arial"/>
                <a:cs typeface="Arial"/>
                <a:sym typeface="Arial"/>
              </a:defRPr>
            </a:lvl6pPr>
            <a:lvl7pPr marL="0" lvl="6" indent="0" algn="l" rtl="0">
              <a:spcBef>
                <a:spcPts val="0"/>
              </a:spcBef>
              <a:buClr>
                <a:schemeClr val="accent4"/>
              </a:buClr>
              <a:buSzPts val="1200"/>
              <a:buFont typeface="Arial"/>
              <a:buNone/>
              <a:defRPr sz="1200" b="0" i="0" u="none" strike="noStrike" cap="none">
                <a:solidFill>
                  <a:schemeClr val="accent4"/>
                </a:solidFill>
                <a:latin typeface="Arial"/>
                <a:ea typeface="Arial"/>
                <a:cs typeface="Arial"/>
                <a:sym typeface="Arial"/>
              </a:defRPr>
            </a:lvl7pPr>
            <a:lvl8pPr marL="0" lvl="7" indent="0" algn="l" rtl="0">
              <a:spcBef>
                <a:spcPts val="0"/>
              </a:spcBef>
              <a:buClr>
                <a:schemeClr val="accent4"/>
              </a:buClr>
              <a:buSzPts val="1200"/>
              <a:buFont typeface="Arial"/>
              <a:buNone/>
              <a:defRPr sz="1200" b="0" i="0" u="none" strike="noStrike" cap="none">
                <a:solidFill>
                  <a:schemeClr val="accent4"/>
                </a:solidFill>
                <a:latin typeface="Arial"/>
                <a:ea typeface="Arial"/>
                <a:cs typeface="Arial"/>
                <a:sym typeface="Arial"/>
              </a:defRPr>
            </a:lvl8pPr>
            <a:lvl9pPr marL="0" lvl="8" indent="0" algn="l" rtl="0">
              <a:spcBef>
                <a:spcPts val="0"/>
              </a:spcBef>
              <a:buClr>
                <a:schemeClr val="accent4"/>
              </a:buClr>
              <a:buSzPts val="1200"/>
              <a:buFont typeface="Arial"/>
              <a:buNone/>
              <a:defRPr sz="1200" b="0" i="0" u="none" strike="noStrike" cap="none">
                <a:solidFill>
                  <a:schemeClr val="accent4"/>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
        <p:nvSpPr>
          <p:cNvPr id="1710" name="Google Shape;1710;p20"/>
          <p:cNvSpPr txBox="1">
            <a:spLocks noGrp="1"/>
          </p:cNvSpPr>
          <p:nvPr>
            <p:ph type="title"/>
          </p:nvPr>
        </p:nvSpPr>
        <p:spPr>
          <a:xfrm>
            <a:off x="1248637" y="757657"/>
            <a:ext cx="10515600" cy="4215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rgbClr val="A4123F"/>
              </a:buClr>
              <a:buSzPts val="4000"/>
              <a:buFont typeface="Georgia"/>
              <a:buNone/>
              <a:defRPr sz="4000" b="0">
                <a:solidFill>
                  <a:srgbClr val="A4123F"/>
                </a:solidFill>
                <a:latin typeface="Georgia"/>
                <a:ea typeface="Georgia"/>
                <a:cs typeface="Georgia"/>
                <a:sym typeface="Georgia"/>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cxnSp>
        <p:nvCxnSpPr>
          <p:cNvPr id="1711" name="Google Shape;1711;p20"/>
          <p:cNvCxnSpPr/>
          <p:nvPr/>
        </p:nvCxnSpPr>
        <p:spPr>
          <a:xfrm>
            <a:off x="495301" y="1600096"/>
            <a:ext cx="11049000" cy="0"/>
          </a:xfrm>
          <a:prstGeom prst="straightConnector1">
            <a:avLst/>
          </a:prstGeom>
          <a:noFill/>
          <a:ln w="9525" cap="flat" cmpd="sng">
            <a:solidFill>
              <a:srgbClr val="A4123F"/>
            </a:solidFill>
            <a:prstDash val="solid"/>
            <a:miter lim="800000"/>
            <a:headEnd type="none" w="sm" len="sm"/>
            <a:tailEnd type="none" w="sm" len="sm"/>
          </a:ln>
        </p:spPr>
      </p:cxnSp>
      <p:pic>
        <p:nvPicPr>
          <p:cNvPr id="1712" name="Google Shape;1712;p20"/>
          <p:cNvPicPr preferRelativeResize="0"/>
          <p:nvPr/>
        </p:nvPicPr>
        <p:blipFill rotWithShape="1">
          <a:blip r:embed="rId4">
            <a:alphaModFix/>
          </a:blip>
          <a:srcRect r="81454" b="8517"/>
          <a:stretch/>
        </p:blipFill>
        <p:spPr>
          <a:xfrm>
            <a:off x="495301" y="757657"/>
            <a:ext cx="583356" cy="712277"/>
          </a:xfrm>
          <a:prstGeom prst="rect">
            <a:avLst/>
          </a:prstGeom>
          <a:noFill/>
          <a:ln>
            <a:noFill/>
          </a:ln>
        </p:spPr>
      </p:pic>
      <p:cxnSp>
        <p:nvCxnSpPr>
          <p:cNvPr id="1713" name="Google Shape;1713;p20"/>
          <p:cNvCxnSpPr/>
          <p:nvPr/>
        </p:nvCxnSpPr>
        <p:spPr>
          <a:xfrm>
            <a:off x="1202479" y="757656"/>
            <a:ext cx="0" cy="703500"/>
          </a:xfrm>
          <a:prstGeom prst="straightConnector1">
            <a:avLst/>
          </a:prstGeom>
          <a:noFill/>
          <a:ln w="9525" cap="flat" cmpd="sng">
            <a:solidFill>
              <a:schemeClr val="dk1"/>
            </a:solidFill>
            <a:prstDash val="solid"/>
            <a:miter lim="800000"/>
            <a:headEnd type="none" w="sm" len="sm"/>
            <a:tailEnd type="none" w="sm" len="sm"/>
          </a:ln>
        </p:spPr>
      </p:cxnSp>
      <p:sp>
        <p:nvSpPr>
          <p:cNvPr id="1714" name="Google Shape;1714;p20"/>
          <p:cNvSpPr txBox="1">
            <a:spLocks noGrp="1"/>
          </p:cNvSpPr>
          <p:nvPr>
            <p:ph type="body" idx="1"/>
          </p:nvPr>
        </p:nvSpPr>
        <p:spPr>
          <a:xfrm>
            <a:off x="1248638" y="1155701"/>
            <a:ext cx="10515600" cy="444300"/>
          </a:xfrm>
          <a:prstGeom prst="rect">
            <a:avLst/>
          </a:prstGeom>
          <a:noFill/>
          <a:ln>
            <a:noFill/>
          </a:ln>
        </p:spPr>
        <p:txBody>
          <a:bodyPr spcFirstLastPara="1" wrap="square" lIns="91425" tIns="45700" rIns="91425" bIns="45700" anchor="t" anchorCtr="0">
            <a:noAutofit/>
          </a:bodyPr>
          <a:lstStyle>
            <a:lvl1pPr marL="457200" lvl="0" indent="-228600" algn="l" rtl="0">
              <a:lnSpc>
                <a:spcPct val="90000"/>
              </a:lnSpc>
              <a:spcBef>
                <a:spcPts val="1000"/>
              </a:spcBef>
              <a:spcAft>
                <a:spcPts val="0"/>
              </a:spcAft>
              <a:buClr>
                <a:schemeClr val="dk1"/>
              </a:buClr>
              <a:buSzPts val="2400"/>
              <a:buNone/>
              <a:defRPr sz="2400">
                <a:latin typeface="Arial"/>
                <a:ea typeface="Arial"/>
                <a:cs typeface="Arial"/>
                <a:sym typeface="Arial"/>
              </a:defRPr>
            </a:lvl1pPr>
            <a:lvl2pPr marL="914400" lvl="1" indent="-228600" algn="l" rtl="0">
              <a:lnSpc>
                <a:spcPct val="90000"/>
              </a:lnSpc>
              <a:spcBef>
                <a:spcPts val="500"/>
              </a:spcBef>
              <a:spcAft>
                <a:spcPts val="0"/>
              </a:spcAft>
              <a:buClr>
                <a:schemeClr val="dk1"/>
              </a:buClr>
              <a:buSzPts val="2400"/>
              <a:buNone/>
              <a:defRPr/>
            </a:lvl2pPr>
            <a:lvl3pPr marL="1371600" lvl="2" indent="-228600" algn="l" rtl="0">
              <a:lnSpc>
                <a:spcPct val="90000"/>
              </a:lnSpc>
              <a:spcBef>
                <a:spcPts val="500"/>
              </a:spcBef>
              <a:spcAft>
                <a:spcPts val="0"/>
              </a:spcAft>
              <a:buClr>
                <a:schemeClr val="dk1"/>
              </a:buClr>
              <a:buSzPts val="2000"/>
              <a:buNone/>
              <a:defRPr/>
            </a:lvl3pPr>
            <a:lvl4pPr marL="1828800" lvl="3" indent="-228600" algn="l" rtl="0">
              <a:lnSpc>
                <a:spcPct val="90000"/>
              </a:lnSpc>
              <a:spcBef>
                <a:spcPts val="500"/>
              </a:spcBef>
              <a:spcAft>
                <a:spcPts val="0"/>
              </a:spcAft>
              <a:buClr>
                <a:schemeClr val="dk1"/>
              </a:buClr>
              <a:buSzPts val="1800"/>
              <a:buNone/>
              <a:defRPr/>
            </a:lvl4pPr>
            <a:lvl5pPr marL="2286000" lvl="4" indent="-228600" algn="l" rtl="0">
              <a:lnSpc>
                <a:spcPct val="90000"/>
              </a:lnSpc>
              <a:spcBef>
                <a:spcPts val="500"/>
              </a:spcBef>
              <a:spcAft>
                <a:spcPts val="0"/>
              </a:spcAft>
              <a:buClr>
                <a:schemeClr val="dk1"/>
              </a:buClr>
              <a:buSzPts val="1800"/>
              <a:buNone/>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1715" name="Google Shape;1715;p20"/>
          <p:cNvSpPr txBox="1">
            <a:spLocks noGrp="1"/>
          </p:cNvSpPr>
          <p:nvPr>
            <p:ph type="body" idx="2" hasCustomPrompt="1"/>
          </p:nvPr>
        </p:nvSpPr>
        <p:spPr>
          <a:xfrm>
            <a:off x="495302" y="2402014"/>
            <a:ext cx="5485500" cy="1862100"/>
          </a:xfrm>
          <a:prstGeom prst="rect">
            <a:avLst/>
          </a:prstGeom>
          <a:noFill/>
          <a:ln>
            <a:noFill/>
          </a:ln>
        </p:spPr>
        <p:txBody>
          <a:bodyPr spcFirstLastPara="1" wrap="square" lIns="91425" tIns="45700" rIns="91425" bIns="45700" anchor="t" anchorCtr="0">
            <a:noAutofit/>
          </a:bodyPr>
          <a:lstStyle>
            <a:lvl1pPr marL="514350" lvl="0" indent="-285750" algn="l" rtl="0">
              <a:lnSpc>
                <a:spcPct val="90000"/>
              </a:lnSpc>
              <a:spcBef>
                <a:spcPts val="1000"/>
              </a:spcBef>
              <a:spcAft>
                <a:spcPts val="0"/>
              </a:spcAft>
              <a:buClr>
                <a:srgbClr val="B6114D"/>
              </a:buClr>
              <a:buSzPts val="1800"/>
              <a:buFont typeface="Arial" panose="020B0604020202020204" pitchFamily="34" charset="0"/>
              <a:buChar char="•"/>
              <a:defRPr sz="1800">
                <a:solidFill>
                  <a:srgbClr val="7F7F7F"/>
                </a:solidFill>
                <a:latin typeface="Georgia"/>
                <a:ea typeface="Georgia"/>
                <a:cs typeface="Georgia"/>
                <a:sym typeface="Georgia"/>
              </a:defRPr>
            </a:lvl1pPr>
            <a:lvl2pPr marL="914400" lvl="1" indent="-228600" algn="l" rtl="0">
              <a:lnSpc>
                <a:spcPct val="90000"/>
              </a:lnSpc>
              <a:spcBef>
                <a:spcPts val="500"/>
              </a:spcBef>
              <a:spcAft>
                <a:spcPts val="0"/>
              </a:spcAft>
              <a:buClr>
                <a:schemeClr val="dk1"/>
              </a:buClr>
              <a:buSzPts val="2400"/>
              <a:buNone/>
              <a:defRPr/>
            </a:lvl2pPr>
            <a:lvl3pPr marL="1371600" lvl="2" indent="-228600" algn="l" rtl="0">
              <a:lnSpc>
                <a:spcPct val="90000"/>
              </a:lnSpc>
              <a:spcBef>
                <a:spcPts val="500"/>
              </a:spcBef>
              <a:spcAft>
                <a:spcPts val="0"/>
              </a:spcAft>
              <a:buClr>
                <a:schemeClr val="dk1"/>
              </a:buClr>
              <a:buSzPts val="2000"/>
              <a:buNone/>
              <a:defRPr/>
            </a:lvl3pPr>
            <a:lvl4pPr marL="1828800" lvl="3" indent="-228600" algn="l" rtl="0">
              <a:lnSpc>
                <a:spcPct val="90000"/>
              </a:lnSpc>
              <a:spcBef>
                <a:spcPts val="500"/>
              </a:spcBef>
              <a:spcAft>
                <a:spcPts val="0"/>
              </a:spcAft>
              <a:buClr>
                <a:schemeClr val="dk1"/>
              </a:buClr>
              <a:buSzPts val="1800"/>
              <a:buNone/>
              <a:defRPr/>
            </a:lvl4pPr>
            <a:lvl5pPr marL="2286000" lvl="4" indent="-228600" algn="l" rtl="0">
              <a:lnSpc>
                <a:spcPct val="90000"/>
              </a:lnSpc>
              <a:spcBef>
                <a:spcPts val="500"/>
              </a:spcBef>
              <a:spcAft>
                <a:spcPts val="0"/>
              </a:spcAft>
              <a:buClr>
                <a:schemeClr val="dk1"/>
              </a:buClr>
              <a:buSzPts val="1800"/>
              <a:buNone/>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r>
              <a:rPr lang="en-IN" dirty="0"/>
              <a:t>Add text</a:t>
            </a:r>
            <a:endParaRPr dirty="0"/>
          </a:p>
        </p:txBody>
      </p:sp>
    </p:spTree>
    <p:extLst>
      <p:ext uri="{BB962C8B-B14F-4D97-AF65-F5344CB8AC3E}">
        <p14:creationId xmlns:p14="http://schemas.microsoft.com/office/powerpoint/2010/main" val="40294919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notesSlide" Target="../notesSlides/notesSlide5.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2.m4a"/><Relationship Id="rId1" Type="http://schemas.microsoft.com/office/2007/relationships/media" Target="../media/media2.m4a"/><Relationship Id="rId6" Type="http://schemas.openxmlformats.org/officeDocument/2006/relationships/image" Target="../media/image8.png"/><Relationship Id="rId5" Type="http://schemas.openxmlformats.org/officeDocument/2006/relationships/image" Target="../media/image9.png"/><Relationship Id="rId4" Type="http://schemas.openxmlformats.org/officeDocument/2006/relationships/notesSlide" Target="../notesSlides/notesSlide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3.m4a"/><Relationship Id="rId1" Type="http://schemas.microsoft.com/office/2007/relationships/media" Target="../media/media3.m4a"/><Relationship Id="rId5" Type="http://schemas.openxmlformats.org/officeDocument/2006/relationships/image" Target="../media/image8.png"/><Relationship Id="rId4" Type="http://schemas.openxmlformats.org/officeDocument/2006/relationships/notesSlide" Target="../notesSlides/notesSlide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DC7025E-4863-6F49-AD01-8A5B65B0890F}"/>
              </a:ext>
            </a:extLst>
          </p:cNvPr>
          <p:cNvSpPr/>
          <p:nvPr/>
        </p:nvSpPr>
        <p:spPr>
          <a:xfrm>
            <a:off x="0" y="0"/>
            <a:ext cx="12192000" cy="7213600"/>
          </a:xfrm>
          <a:prstGeom prst="rect">
            <a:avLst/>
          </a:prstGeom>
          <a:solidFill>
            <a:srgbClr val="B811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picture containing drawing&#10;&#10;Description automatically generated">
            <a:extLst>
              <a:ext uri="{FF2B5EF4-FFF2-40B4-BE49-F238E27FC236}">
                <a16:creationId xmlns:a16="http://schemas.microsoft.com/office/drawing/2014/main" id="{80288CD4-7B52-C244-BAD4-BFF7D9DCE675}"/>
              </a:ext>
            </a:extLst>
          </p:cNvPr>
          <p:cNvPicPr>
            <a:picLocks noChangeAspect="1"/>
          </p:cNvPicPr>
          <p:nvPr/>
        </p:nvPicPr>
        <p:blipFill>
          <a:blip r:embed="rId2"/>
          <a:stretch>
            <a:fillRect/>
          </a:stretch>
        </p:blipFill>
        <p:spPr>
          <a:xfrm>
            <a:off x="1548131" y="2340003"/>
            <a:ext cx="4590899" cy="1473199"/>
          </a:xfrm>
          <a:prstGeom prst="rect">
            <a:avLst/>
          </a:prstGeom>
        </p:spPr>
      </p:pic>
      <p:sp>
        <p:nvSpPr>
          <p:cNvPr id="8" name="TextBox 7">
            <a:extLst>
              <a:ext uri="{FF2B5EF4-FFF2-40B4-BE49-F238E27FC236}">
                <a16:creationId xmlns:a16="http://schemas.microsoft.com/office/drawing/2014/main" id="{BE776D66-1F2F-B348-8DC7-42BD5D86556D}"/>
              </a:ext>
            </a:extLst>
          </p:cNvPr>
          <p:cNvSpPr txBox="1"/>
          <p:nvPr/>
        </p:nvSpPr>
        <p:spPr>
          <a:xfrm>
            <a:off x="6572099" y="2412999"/>
            <a:ext cx="4744830" cy="2954655"/>
          </a:xfrm>
          <a:prstGeom prst="rect">
            <a:avLst/>
          </a:prstGeom>
          <a:noFill/>
        </p:spPr>
        <p:txBody>
          <a:bodyPr wrap="square" lIns="91440" tIns="45720" rIns="91440" bIns="45720" rtlCol="0" anchor="t">
            <a:spAutoFit/>
          </a:bodyPr>
          <a:lstStyle/>
          <a:p>
            <a:pPr algn="ctr"/>
            <a:r>
              <a:rPr lang="en-US" sz="4000" dirty="0">
                <a:solidFill>
                  <a:schemeClr val="bg1"/>
                </a:solidFill>
                <a:latin typeface="Georgia"/>
              </a:rPr>
              <a:t>Research</a:t>
            </a:r>
          </a:p>
          <a:p>
            <a:pPr algn="ctr"/>
            <a:endParaRPr lang="en-US" sz="4000" dirty="0">
              <a:solidFill>
                <a:schemeClr val="bg1"/>
              </a:solidFill>
              <a:latin typeface="Georgia"/>
            </a:endParaRPr>
          </a:p>
          <a:p>
            <a:pPr algn="ctr"/>
            <a:r>
              <a:rPr lang="en-US" sz="2400" dirty="0">
                <a:solidFill>
                  <a:schemeClr val="bg1"/>
                </a:solidFill>
                <a:latin typeface="Georgia"/>
              </a:rPr>
              <a:t>Amrita School of Computing</a:t>
            </a:r>
          </a:p>
          <a:p>
            <a:pPr algn="ctr"/>
            <a:r>
              <a:rPr lang="en-US" sz="2400" dirty="0" err="1">
                <a:solidFill>
                  <a:schemeClr val="bg1"/>
                </a:solidFill>
                <a:latin typeface="Georgia"/>
              </a:rPr>
              <a:t>Amritapuri</a:t>
            </a:r>
            <a:r>
              <a:rPr lang="en-US" sz="2400" dirty="0">
                <a:solidFill>
                  <a:schemeClr val="bg1"/>
                </a:solidFill>
                <a:latin typeface="Georgia"/>
              </a:rPr>
              <a:t> Campus</a:t>
            </a:r>
          </a:p>
          <a:p>
            <a:pPr algn="ctr"/>
            <a:endParaRPr lang="en-US" sz="4000" dirty="0">
              <a:solidFill>
                <a:schemeClr val="bg1"/>
              </a:solidFill>
              <a:cs typeface="Calibri"/>
            </a:endParaRPr>
          </a:p>
          <a:p>
            <a:pPr algn="ctr"/>
            <a:endParaRPr lang="en-US" dirty="0">
              <a:solidFill>
                <a:schemeClr val="bg1"/>
              </a:solidFill>
              <a:latin typeface="Georgia"/>
              <a:cs typeface="Calibri"/>
            </a:endParaRPr>
          </a:p>
        </p:txBody>
      </p:sp>
      <p:cxnSp>
        <p:nvCxnSpPr>
          <p:cNvPr id="3" name="Straight Connector 2">
            <a:extLst>
              <a:ext uri="{FF2B5EF4-FFF2-40B4-BE49-F238E27FC236}">
                <a16:creationId xmlns:a16="http://schemas.microsoft.com/office/drawing/2014/main" id="{4BA58083-EF1A-427F-9030-DC289843A2BF}"/>
              </a:ext>
            </a:extLst>
          </p:cNvPr>
          <p:cNvCxnSpPr>
            <a:cxnSpLocks/>
          </p:cNvCxnSpPr>
          <p:nvPr/>
        </p:nvCxnSpPr>
        <p:spPr>
          <a:xfrm>
            <a:off x="6355564" y="2058391"/>
            <a:ext cx="0" cy="2182417"/>
          </a:xfrm>
          <a:prstGeom prst="line">
            <a:avLst/>
          </a:prstGeom>
          <a:ln>
            <a:solidFill>
              <a:srgbClr val="FFC000"/>
            </a:solidFill>
          </a:ln>
        </p:spPr>
        <p:style>
          <a:lnRef idx="1">
            <a:schemeClr val="accent2"/>
          </a:lnRef>
          <a:fillRef idx="0">
            <a:schemeClr val="accent2"/>
          </a:fillRef>
          <a:effectRef idx="0">
            <a:schemeClr val="accent2"/>
          </a:effectRef>
          <a:fontRef idx="minor">
            <a:schemeClr val="tx1"/>
          </a:fontRef>
        </p:style>
      </p:cxnSp>
      <p:pic>
        <p:nvPicPr>
          <p:cNvPr id="11" name="Google Shape;154;p22" descr="A picture containing person, white&#10;&#10;Description automatically generated">
            <a:extLst>
              <a:ext uri="{FF2B5EF4-FFF2-40B4-BE49-F238E27FC236}">
                <a16:creationId xmlns:a16="http://schemas.microsoft.com/office/drawing/2014/main" id="{8B1E97CD-116B-7461-F600-62BBBFA559B7}"/>
              </a:ext>
            </a:extLst>
          </p:cNvPr>
          <p:cNvPicPr preferRelativeResize="0"/>
          <p:nvPr/>
        </p:nvPicPr>
        <p:blipFill rotWithShape="1">
          <a:blip r:embed="rId3">
            <a:alphaModFix/>
          </a:blip>
          <a:srcRect l="20568" t="1834" r="17645" b="33811"/>
          <a:stretch/>
        </p:blipFill>
        <p:spPr>
          <a:xfrm>
            <a:off x="5050621" y="235276"/>
            <a:ext cx="1614626" cy="1494417"/>
          </a:xfrm>
          <a:prstGeom prst="ellipse">
            <a:avLst/>
          </a:prstGeom>
          <a:noFill/>
          <a:ln w="28575" cap="flat" cmpd="sng">
            <a:solidFill>
              <a:srgbClr val="FFFFFF"/>
            </a:solidFill>
            <a:prstDash val="solid"/>
            <a:round/>
            <a:headEnd type="none" w="sm" len="sm"/>
            <a:tailEnd type="none" w="sm" len="sm"/>
          </a:ln>
        </p:spPr>
      </p:pic>
    </p:spTree>
    <p:extLst>
      <p:ext uri="{BB962C8B-B14F-4D97-AF65-F5344CB8AC3E}">
        <p14:creationId xmlns:p14="http://schemas.microsoft.com/office/powerpoint/2010/main" val="304919480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51E20C7-77F3-D31D-3E3A-73B211242FF4}"/>
              </a:ext>
            </a:extLst>
          </p:cNvPr>
          <p:cNvSpPr/>
          <p:nvPr/>
        </p:nvSpPr>
        <p:spPr>
          <a:xfrm>
            <a:off x="203200" y="969806"/>
            <a:ext cx="11508509" cy="14929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3522863" y="3496734"/>
            <a:ext cx="5146282" cy="369332"/>
          </a:xfrm>
          <a:prstGeom prst="rect">
            <a:avLst/>
          </a:prstGeom>
          <a:noFill/>
        </p:spPr>
        <p:txBody>
          <a:bodyPr wrap="none">
            <a:spAutoFit/>
          </a:bodyPr>
          <a:lstStyle/>
          <a:p>
            <a:pPr algn="ctr"/>
            <a:r>
              <a:rPr sz="1800" b="0" dirty="0">
                <a:latin typeface="Calibri"/>
              </a:rPr>
              <a:t>Basanth M S</a:t>
            </a:r>
            <a:r>
              <a:rPr lang="en-US" sz="1800" b="0" dirty="0">
                <a:latin typeface="Calibri"/>
              </a:rPr>
              <a:t> (AM.SC.R4CSE25007-PT)</a:t>
            </a:r>
            <a:r>
              <a:rPr sz="1800" b="0" dirty="0">
                <a:latin typeface="Calibri"/>
              </a:rPr>
              <a:t>,  </a:t>
            </a:r>
            <a:r>
              <a:rPr sz="1800" b="0" dirty="0" err="1">
                <a:latin typeface="Calibri"/>
              </a:rPr>
              <a:t>Gopakumar</a:t>
            </a:r>
            <a:r>
              <a:rPr lang="en-US" sz="1800" b="0" dirty="0">
                <a:latin typeface="Calibri"/>
              </a:rPr>
              <a:t> G</a:t>
            </a:r>
            <a:endParaRPr sz="1800" b="0" dirty="0">
              <a:latin typeface="Calibri"/>
            </a:endParaRPr>
          </a:p>
        </p:txBody>
      </p:sp>
      <p:sp>
        <p:nvSpPr>
          <p:cNvPr id="5" name="TextBox 4"/>
          <p:cNvSpPr txBox="1"/>
          <p:nvPr/>
        </p:nvSpPr>
        <p:spPr>
          <a:xfrm>
            <a:off x="3478096" y="3866066"/>
            <a:ext cx="5300745" cy="553998"/>
          </a:xfrm>
          <a:prstGeom prst="rect">
            <a:avLst/>
          </a:prstGeom>
          <a:noFill/>
        </p:spPr>
        <p:txBody>
          <a:bodyPr wrap="none">
            <a:spAutoFit/>
          </a:bodyPr>
          <a:lstStyle/>
          <a:p>
            <a:pPr algn="ctr"/>
            <a:r>
              <a:rPr sz="1500" b="0" dirty="0">
                <a:latin typeface="Calibri"/>
              </a:rPr>
              <a:t>Dept. of Computer Science and Engineering, School of Computing
Amrita Vishwa Vidyapeetham, </a:t>
            </a:r>
            <a:r>
              <a:rPr sz="1500" b="0" dirty="0" err="1">
                <a:latin typeface="Calibri"/>
              </a:rPr>
              <a:t>Amritapuri</a:t>
            </a:r>
            <a:r>
              <a:rPr sz="1500" b="0" dirty="0">
                <a:latin typeface="Calibri"/>
              </a:rPr>
              <a:t>, India</a:t>
            </a:r>
          </a:p>
        </p:txBody>
      </p:sp>
      <p:sp>
        <p:nvSpPr>
          <p:cNvPr id="7" name="Title 6">
            <a:extLst>
              <a:ext uri="{FF2B5EF4-FFF2-40B4-BE49-F238E27FC236}">
                <a16:creationId xmlns:a16="http://schemas.microsoft.com/office/drawing/2014/main" id="{832A689D-2A4C-A3D6-DE66-3B1F3D2BC478}"/>
              </a:ext>
            </a:extLst>
          </p:cNvPr>
          <p:cNvSpPr>
            <a:spLocks noGrp="1"/>
          </p:cNvSpPr>
          <p:nvPr>
            <p:ph type="title"/>
          </p:nvPr>
        </p:nvSpPr>
        <p:spPr>
          <a:xfrm>
            <a:off x="4748395" y="2056139"/>
            <a:ext cx="2695210" cy="444300"/>
          </a:xfrm>
        </p:spPr>
        <p:txBody>
          <a:bodyPr/>
          <a:lstStyle/>
          <a:p>
            <a:r>
              <a:rPr lang="en-US" b="1" dirty="0">
                <a:latin typeface="Calibri"/>
              </a:rPr>
              <a:t>SHARP-LLM</a:t>
            </a:r>
            <a:br>
              <a:rPr lang="en-US" b="1" dirty="0">
                <a:latin typeface="Calibri"/>
              </a:rPr>
            </a:br>
            <a:endParaRPr lang="en-US" dirty="0">
              <a:solidFill>
                <a:schemeClr val="tx1"/>
              </a:solidFill>
            </a:endParaRPr>
          </a:p>
        </p:txBody>
      </p:sp>
      <p:sp>
        <p:nvSpPr>
          <p:cNvPr id="8" name="Text Placeholder 7">
            <a:extLst>
              <a:ext uri="{FF2B5EF4-FFF2-40B4-BE49-F238E27FC236}">
                <a16:creationId xmlns:a16="http://schemas.microsoft.com/office/drawing/2014/main" id="{F2724CE7-E606-FF30-0E96-82A52EBFB12C}"/>
              </a:ext>
            </a:extLst>
          </p:cNvPr>
          <p:cNvSpPr>
            <a:spLocks noGrp="1"/>
          </p:cNvSpPr>
          <p:nvPr>
            <p:ph type="body" idx="1"/>
          </p:nvPr>
        </p:nvSpPr>
        <p:spPr>
          <a:xfrm>
            <a:off x="838200" y="2251989"/>
            <a:ext cx="10515600" cy="444300"/>
          </a:xfrm>
        </p:spPr>
        <p:txBody>
          <a:bodyPr/>
          <a:lstStyle/>
          <a:p>
            <a:pPr algn="ctr"/>
            <a:r>
              <a:rPr lang="en-US" dirty="0">
                <a:latin typeface="Calibri"/>
              </a:rPr>
              <a:t>A Secure and Resource-Efficient Framework for Source Code Vulnerability Analysis and Healthcare-Specific Risk Prioritization</a:t>
            </a:r>
            <a:endParaRPr lang="en-US" dirty="0"/>
          </a:p>
        </p:txBody>
      </p:sp>
      <p:pic>
        <p:nvPicPr>
          <p:cNvPr id="11" name="Graphic 10">
            <a:extLst>
              <a:ext uri="{FF2B5EF4-FFF2-40B4-BE49-F238E27FC236}">
                <a16:creationId xmlns:a16="http://schemas.microsoft.com/office/drawing/2014/main" id="{7A07B8FB-511C-84B7-BF45-1EB5D2F6D01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0291" y="320605"/>
            <a:ext cx="3046325" cy="93733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926080"/>
            <a:ext cx="12191695" cy="54864"/>
          </a:xfrm>
          <a:prstGeom prst="rect">
            <a:avLst/>
          </a:prstGeom>
          <a:solidFill>
            <a:srgbClr val="A41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571646" y="1645920"/>
            <a:ext cx="1018227" cy="1077218"/>
          </a:xfrm>
          <a:prstGeom prst="rect">
            <a:avLst/>
          </a:prstGeom>
          <a:noFill/>
        </p:spPr>
        <p:txBody>
          <a:bodyPr wrap="none">
            <a:spAutoFit/>
          </a:bodyPr>
          <a:lstStyle/>
          <a:p>
            <a:pPr algn="ctr"/>
            <a:r>
              <a:rPr sz="6400" b="1" dirty="0">
                <a:solidFill>
                  <a:srgbClr val="A4123F"/>
                </a:solidFill>
                <a:latin typeface="Calibri"/>
              </a:rPr>
              <a:t>01</a:t>
            </a:r>
          </a:p>
        </p:txBody>
      </p:sp>
      <p:sp>
        <p:nvSpPr>
          <p:cNvPr id="4" name="TextBox 3"/>
          <p:cNvSpPr txBox="1"/>
          <p:nvPr/>
        </p:nvSpPr>
        <p:spPr>
          <a:xfrm>
            <a:off x="4005993" y="3200400"/>
            <a:ext cx="4149534" cy="584775"/>
          </a:xfrm>
          <a:prstGeom prst="rect">
            <a:avLst/>
          </a:prstGeom>
          <a:noFill/>
        </p:spPr>
        <p:txBody>
          <a:bodyPr wrap="none">
            <a:spAutoFit/>
          </a:bodyPr>
          <a:lstStyle/>
          <a:p>
            <a:pPr algn="ctr"/>
            <a:r>
              <a:rPr sz="3200" b="1" dirty="0">
                <a:latin typeface="Calibri"/>
              </a:rPr>
              <a:t>Introduction</a:t>
            </a:r>
          </a:p>
        </p:txBody>
      </p:sp>
      <p:sp>
        <p:nvSpPr>
          <p:cNvPr id="8" name="Rectangle 7">
            <a:extLst>
              <a:ext uri="{FF2B5EF4-FFF2-40B4-BE49-F238E27FC236}">
                <a16:creationId xmlns:a16="http://schemas.microsoft.com/office/drawing/2014/main" id="{17165227-9F30-9245-CA1E-CEBEE1CD25AF}"/>
              </a:ext>
            </a:extLst>
          </p:cNvPr>
          <p:cNvSpPr/>
          <p:nvPr/>
        </p:nvSpPr>
        <p:spPr>
          <a:xfrm>
            <a:off x="508000" y="295564"/>
            <a:ext cx="11222182" cy="14962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46760" y="1749287"/>
            <a:ext cx="10698480" cy="3970318"/>
          </a:xfrm>
          <a:prstGeom prst="rect">
            <a:avLst/>
          </a:prstGeom>
          <a:noFill/>
        </p:spPr>
        <p:txBody>
          <a:bodyPr wrap="square">
            <a:spAutoFit/>
          </a:bodyPr>
          <a:lstStyle/>
          <a:p>
            <a:r>
              <a:rPr lang="en-US" sz="2400" dirty="0"/>
              <a:t>▸  Healthcare software handles some of the most sensitive data in any industry</a:t>
            </a:r>
          </a:p>
          <a:p>
            <a:pPr lvl="1"/>
            <a:r>
              <a:rPr lang="en-US" sz="2000" dirty="0"/>
              <a:t>    Electronic Health Records (EHR) and patient data confidentiality</a:t>
            </a:r>
          </a:p>
          <a:p>
            <a:pPr lvl="1"/>
            <a:r>
              <a:rPr lang="en-US" sz="2000" dirty="0"/>
              <a:t>    Clinical decision support and diagnostic workflows</a:t>
            </a:r>
          </a:p>
          <a:p>
            <a:pPr lvl="1"/>
            <a:r>
              <a:rPr lang="en-US" sz="2000" dirty="0"/>
              <a:t>Regulatory compliance (HIPAA, GDPR, DISHA, DPDPA)</a:t>
            </a:r>
          </a:p>
          <a:p>
            <a:r>
              <a:rPr lang="en-US" sz="2400" dirty="0"/>
              <a:t>▸  A vulnerability in healthcare software is not just a bug — it can compromise:</a:t>
            </a:r>
          </a:p>
          <a:p>
            <a:pPr lvl="1"/>
            <a:r>
              <a:rPr lang="en-US" sz="2000" dirty="0"/>
              <a:t>    Patient safety and data privacy</a:t>
            </a:r>
          </a:p>
          <a:p>
            <a:pPr lvl="1"/>
            <a:r>
              <a:rPr lang="en-US" sz="2000" dirty="0"/>
              <a:t>    Service continuity of critical systems</a:t>
            </a:r>
          </a:p>
          <a:p>
            <a:pPr lvl="1"/>
            <a:r>
              <a:rPr lang="en-US" sz="2000" dirty="0"/>
              <a:t>    Regulatory compliance and institutional trust</a:t>
            </a:r>
          </a:p>
          <a:p>
            <a:r>
              <a:rPr lang="en-US" sz="2400" dirty="0"/>
              <a:t>▸  Existing approaches have key limitations:</a:t>
            </a:r>
          </a:p>
          <a:p>
            <a:pPr lvl="1"/>
            <a:r>
              <a:rPr lang="en-US" sz="2000" dirty="0"/>
              <a:t>    Traditional SAST tools: high false-positive rates, limited generalization</a:t>
            </a:r>
          </a:p>
          <a:p>
            <a:pPr lvl="1"/>
            <a:r>
              <a:rPr lang="en-US" sz="2000" dirty="0"/>
              <a:t>    LLM-based methods: computationally expensive, no domain-specific guidance</a:t>
            </a:r>
          </a:p>
          <a:p>
            <a:pPr lvl="1"/>
            <a:r>
              <a:rPr lang="en-US" sz="2000" dirty="0"/>
              <a:t>    No framework bridges code analysis → healthcare-specific risk prioritization</a:t>
            </a:r>
          </a:p>
        </p:txBody>
      </p:sp>
      <p:sp>
        <p:nvSpPr>
          <p:cNvPr id="5" name="Title 4">
            <a:extLst>
              <a:ext uri="{FF2B5EF4-FFF2-40B4-BE49-F238E27FC236}">
                <a16:creationId xmlns:a16="http://schemas.microsoft.com/office/drawing/2014/main" id="{8502C412-00CB-657E-E885-D6D72CC6566B}"/>
              </a:ext>
            </a:extLst>
          </p:cNvPr>
          <p:cNvSpPr>
            <a:spLocks noGrp="1"/>
          </p:cNvSpPr>
          <p:nvPr>
            <p:ph type="title"/>
          </p:nvPr>
        </p:nvSpPr>
        <p:spPr>
          <a:xfrm>
            <a:off x="1248637" y="757654"/>
            <a:ext cx="9996879" cy="421500"/>
          </a:xfrm>
        </p:spPr>
        <p:txBody>
          <a:bodyPr/>
          <a:lstStyle/>
          <a:p>
            <a:r>
              <a:rPr lang="en-US" dirty="0"/>
              <a:t>Why This Matters for Healthcare Software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46760" y="1749287"/>
            <a:ext cx="10698480" cy="4431213"/>
          </a:xfrm>
          <a:prstGeom prst="rect">
            <a:avLst/>
          </a:prstGeom>
          <a:noFill/>
        </p:spPr>
        <p:txBody>
          <a:bodyPr wrap="square">
            <a:spAutoFit/>
          </a:bodyPr>
          <a:lstStyle/>
          <a:p>
            <a:r>
              <a:rPr lang="en-US" sz="2540" dirty="0">
                <a:latin typeface="Calibri"/>
              </a:rPr>
              <a:t>▸  Secure Healthcare-Code Vulnerability Analysis and Risk Prediction via Lightweight LLMs</a:t>
            </a:r>
          </a:p>
          <a:p>
            <a:r>
              <a:rPr lang="en-US" sz="2540" dirty="0">
                <a:latin typeface="Calibri"/>
              </a:rPr>
              <a:t>▸  A secure and lightweight framework for source code vulnerability detection</a:t>
            </a:r>
          </a:p>
          <a:p>
            <a:pPr marL="800100" lvl="1" indent="-342900">
              <a:buFont typeface="Arial" panose="020B0604020202020204" pitchFamily="34" charset="0"/>
              <a:buChar char="•"/>
            </a:pPr>
            <a:r>
              <a:rPr lang="en-US" sz="2159" dirty="0">
                <a:latin typeface="Calibri"/>
              </a:rPr>
              <a:t>Classifies C/C++ code into 118 CWE categories</a:t>
            </a:r>
          </a:p>
          <a:p>
            <a:pPr marL="800100" lvl="1" indent="-342900">
              <a:buFont typeface="Arial" panose="020B0604020202020204" pitchFamily="34" charset="0"/>
              <a:buChar char="•"/>
            </a:pPr>
            <a:r>
              <a:rPr lang="en-US" sz="2159" dirty="0">
                <a:latin typeface="Calibri"/>
              </a:rPr>
              <a:t>Fine-tuned lightweight LLMs (35M–125M parameters)</a:t>
            </a:r>
          </a:p>
          <a:p>
            <a:pPr marL="800100" lvl="1" indent="-342900">
              <a:buFont typeface="Arial" panose="020B0604020202020204" pitchFamily="34" charset="0"/>
              <a:buChar char="•"/>
            </a:pPr>
            <a:r>
              <a:rPr lang="en-US" sz="2159" dirty="0">
                <a:latin typeface="Calibri"/>
              </a:rPr>
              <a:t>Runs on consumer-grade GPU (8 GB VRAM)</a:t>
            </a:r>
          </a:p>
          <a:p>
            <a:r>
              <a:rPr lang="en-US" sz="2540" dirty="0">
                <a:latin typeface="Calibri"/>
              </a:rPr>
              <a:t>▸  Healthcare-oriented risk prioritization layer:</a:t>
            </a:r>
          </a:p>
          <a:p>
            <a:pPr marL="800100" lvl="1" indent="-342900">
              <a:buFont typeface="Arial" panose="020B0604020202020204" pitchFamily="34" charset="0"/>
              <a:buChar char="•"/>
            </a:pPr>
            <a:r>
              <a:rPr lang="en-US" sz="2159" dirty="0">
                <a:latin typeface="Calibri"/>
              </a:rPr>
              <a:t>Maps CWEs to LINDDUN privacy threat types</a:t>
            </a:r>
          </a:p>
          <a:p>
            <a:pPr marL="800100" lvl="1" indent="-342900">
              <a:buFont typeface="Arial" panose="020B0604020202020204" pitchFamily="34" charset="0"/>
              <a:buChar char="•"/>
            </a:pPr>
            <a:r>
              <a:rPr lang="en-US" sz="2159" dirty="0">
                <a:latin typeface="Calibri"/>
              </a:rPr>
              <a:t>Links to policy-relevant control domains</a:t>
            </a:r>
          </a:p>
          <a:p>
            <a:pPr marL="800100" lvl="1" indent="-342900">
              <a:buFont typeface="Arial" panose="020B0604020202020204" pitchFamily="34" charset="0"/>
              <a:buChar char="•"/>
            </a:pPr>
            <a:r>
              <a:rPr lang="en-US" sz="2159" dirty="0">
                <a:latin typeface="Calibri"/>
              </a:rPr>
              <a:t>Produces ordinal priority levels (Critical / High / Medium / Low)</a:t>
            </a:r>
          </a:p>
          <a:p>
            <a:r>
              <a:rPr lang="en-US" sz="2540" dirty="0">
                <a:latin typeface="Calibri"/>
              </a:rPr>
              <a:t>▸  Sub-30 ms inference latency — viable for CI/CD, IDE plugins, real-time code review</a:t>
            </a:r>
          </a:p>
        </p:txBody>
      </p:sp>
      <p:sp>
        <p:nvSpPr>
          <p:cNvPr id="5" name="Title 4">
            <a:extLst>
              <a:ext uri="{FF2B5EF4-FFF2-40B4-BE49-F238E27FC236}">
                <a16:creationId xmlns:a16="http://schemas.microsoft.com/office/drawing/2014/main" id="{8502C412-00CB-657E-E885-D6D72CC6566B}"/>
              </a:ext>
            </a:extLst>
          </p:cNvPr>
          <p:cNvSpPr>
            <a:spLocks noGrp="1"/>
          </p:cNvSpPr>
          <p:nvPr>
            <p:ph type="title"/>
          </p:nvPr>
        </p:nvSpPr>
        <p:spPr>
          <a:xfrm>
            <a:off x="1248637" y="757654"/>
            <a:ext cx="9247085" cy="421500"/>
          </a:xfrm>
        </p:spPr>
        <p:txBody>
          <a:bodyPr/>
          <a:lstStyle/>
          <a:p>
            <a:r>
              <a:rPr lang="en-US" dirty="0"/>
              <a:t>What is SHARP-LLM?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926080"/>
            <a:ext cx="12191695" cy="54864"/>
          </a:xfrm>
          <a:prstGeom prst="rect">
            <a:avLst/>
          </a:prstGeom>
          <a:solidFill>
            <a:srgbClr val="A41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571646" y="1645920"/>
            <a:ext cx="1018227" cy="1077218"/>
          </a:xfrm>
          <a:prstGeom prst="rect">
            <a:avLst/>
          </a:prstGeom>
          <a:noFill/>
        </p:spPr>
        <p:txBody>
          <a:bodyPr wrap="none">
            <a:spAutoFit/>
          </a:bodyPr>
          <a:lstStyle/>
          <a:p>
            <a:pPr algn="ctr"/>
            <a:r>
              <a:rPr sz="6400" b="1" dirty="0">
                <a:solidFill>
                  <a:srgbClr val="A4123F"/>
                </a:solidFill>
                <a:latin typeface="Calibri"/>
              </a:rPr>
              <a:t>02</a:t>
            </a:r>
          </a:p>
        </p:txBody>
      </p:sp>
      <p:sp>
        <p:nvSpPr>
          <p:cNvPr id="4" name="TextBox 3"/>
          <p:cNvSpPr txBox="1"/>
          <p:nvPr/>
        </p:nvSpPr>
        <p:spPr>
          <a:xfrm>
            <a:off x="4005993" y="3200400"/>
            <a:ext cx="4149534" cy="584775"/>
          </a:xfrm>
          <a:prstGeom prst="rect">
            <a:avLst/>
          </a:prstGeom>
          <a:noFill/>
        </p:spPr>
        <p:txBody>
          <a:bodyPr wrap="none">
            <a:spAutoFit/>
          </a:bodyPr>
          <a:lstStyle/>
          <a:p>
            <a:pPr algn="ctr"/>
            <a:r>
              <a:rPr sz="3200" b="1" dirty="0">
                <a:latin typeface="Calibri"/>
              </a:rPr>
              <a:t>Literature Review &amp; Research Gap</a:t>
            </a:r>
          </a:p>
        </p:txBody>
      </p:sp>
      <p:sp>
        <p:nvSpPr>
          <p:cNvPr id="8" name="Rectangle 7">
            <a:extLst>
              <a:ext uri="{FF2B5EF4-FFF2-40B4-BE49-F238E27FC236}">
                <a16:creationId xmlns:a16="http://schemas.microsoft.com/office/drawing/2014/main" id="{17165227-9F30-9245-CA1E-CEBEE1CD25AF}"/>
              </a:ext>
            </a:extLst>
          </p:cNvPr>
          <p:cNvSpPr/>
          <p:nvPr/>
        </p:nvSpPr>
        <p:spPr>
          <a:xfrm>
            <a:off x="508000" y="295564"/>
            <a:ext cx="11222182" cy="14962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502C412-00CB-657E-E885-D6D72CC6566B}"/>
              </a:ext>
            </a:extLst>
          </p:cNvPr>
          <p:cNvSpPr>
            <a:spLocks noGrp="1"/>
          </p:cNvSpPr>
          <p:nvPr>
            <p:ph type="title"/>
          </p:nvPr>
        </p:nvSpPr>
        <p:spPr>
          <a:xfrm>
            <a:off x="1248637" y="757654"/>
            <a:ext cx="9247085" cy="421500"/>
          </a:xfrm>
        </p:spPr>
        <p:txBody>
          <a:bodyPr/>
          <a:lstStyle/>
          <a:p>
            <a:r>
              <a:rPr lang="en-US" dirty="0"/>
              <a:t>Related Work — Existing Approaches</a:t>
            </a:r>
          </a:p>
        </p:txBody>
      </p:sp>
      <p:graphicFrame>
        <p:nvGraphicFramePr>
          <p:cNvPr id="6" name="Table 5"/>
          <p:cNvGraphicFramePr>
            <a:graphicFrameLocks noGrp="1"/>
          </p:cNvGraphicFramePr>
          <p:nvPr/>
        </p:nvGraphicFramePr>
        <p:xfrm>
          <a:off x="1295400" y="1810978"/>
          <a:ext cx="9601200" cy="4261659"/>
        </p:xfrm>
        <a:graphic>
          <a:graphicData uri="http://schemas.openxmlformats.org/drawingml/2006/table">
            <a:tbl>
              <a:tblPr firstRow="1" bandRow="1">
                <a:tableStyleId>{5C22544A-7EE6-4342-B048-85BDC9FD1C3A}</a:tableStyleId>
              </a:tblPr>
              <a:tblGrid>
                <a:gridCol w="2400300">
                  <a:extLst>
                    <a:ext uri="{9D8B030D-6E8A-4147-A177-3AD203B41FA5}">
                      <a16:colId xmlns:a16="http://schemas.microsoft.com/office/drawing/2014/main" val="20000"/>
                    </a:ext>
                  </a:extLst>
                </a:gridCol>
                <a:gridCol w="2400300">
                  <a:extLst>
                    <a:ext uri="{9D8B030D-6E8A-4147-A177-3AD203B41FA5}">
                      <a16:colId xmlns:a16="http://schemas.microsoft.com/office/drawing/2014/main" val="20001"/>
                    </a:ext>
                  </a:extLst>
                </a:gridCol>
                <a:gridCol w="2400300">
                  <a:extLst>
                    <a:ext uri="{9D8B030D-6E8A-4147-A177-3AD203B41FA5}">
                      <a16:colId xmlns:a16="http://schemas.microsoft.com/office/drawing/2014/main" val="20002"/>
                    </a:ext>
                  </a:extLst>
                </a:gridCol>
                <a:gridCol w="2400300">
                  <a:extLst>
                    <a:ext uri="{9D8B030D-6E8A-4147-A177-3AD203B41FA5}">
                      <a16:colId xmlns:a16="http://schemas.microsoft.com/office/drawing/2014/main" val="20003"/>
                    </a:ext>
                  </a:extLst>
                </a:gridCol>
              </a:tblGrid>
              <a:tr h="473517">
                <a:tc>
                  <a:txBody>
                    <a:bodyPr/>
                    <a:lstStyle/>
                    <a:p>
                      <a:pPr>
                        <a:defRPr sz="1400" b="1">
                          <a:solidFill>
                            <a:srgbClr val="FFFFFF"/>
                          </a:solidFill>
                          <a:latin typeface="Calibri"/>
                        </a:defRPr>
                      </a:pPr>
                      <a:r>
                        <a:t>Framework</a:t>
                      </a:r>
                    </a:p>
                  </a:txBody>
                  <a:tcPr>
                    <a:solidFill>
                      <a:srgbClr val="A4123F"/>
                    </a:solidFill>
                  </a:tcPr>
                </a:tc>
                <a:tc>
                  <a:txBody>
                    <a:bodyPr/>
                    <a:lstStyle/>
                    <a:p>
                      <a:pPr>
                        <a:defRPr sz="1400" b="1">
                          <a:solidFill>
                            <a:srgbClr val="FFFFFF"/>
                          </a:solidFill>
                          <a:latin typeface="Calibri"/>
                        </a:defRPr>
                      </a:pPr>
                      <a:r>
                        <a:t>Authors</a:t>
                      </a:r>
                    </a:p>
                  </a:txBody>
                  <a:tcPr>
                    <a:solidFill>
                      <a:srgbClr val="A4123F"/>
                    </a:solidFill>
                  </a:tcPr>
                </a:tc>
                <a:tc>
                  <a:txBody>
                    <a:bodyPr/>
                    <a:lstStyle/>
                    <a:p>
                      <a:pPr>
                        <a:defRPr sz="1400" b="1">
                          <a:solidFill>
                            <a:srgbClr val="FFFFFF"/>
                          </a:solidFill>
                          <a:latin typeface="Calibri"/>
                        </a:defRPr>
                      </a:pPr>
                      <a:r>
                        <a:t>Focus</a:t>
                      </a:r>
                    </a:p>
                  </a:txBody>
                  <a:tcPr>
                    <a:solidFill>
                      <a:srgbClr val="A4123F"/>
                    </a:solidFill>
                  </a:tcPr>
                </a:tc>
                <a:tc>
                  <a:txBody>
                    <a:bodyPr/>
                    <a:lstStyle/>
                    <a:p>
                      <a:pPr>
                        <a:defRPr sz="1400" b="1">
                          <a:solidFill>
                            <a:srgbClr val="FFFFFF"/>
                          </a:solidFill>
                          <a:latin typeface="Calibri"/>
                        </a:defRPr>
                      </a:pPr>
                      <a:r>
                        <a:t>Limitation</a:t>
                      </a:r>
                    </a:p>
                  </a:txBody>
                  <a:tcPr>
                    <a:solidFill>
                      <a:srgbClr val="A4123F"/>
                    </a:solidFill>
                  </a:tcPr>
                </a:tc>
                <a:extLst>
                  <a:ext uri="{0D108BD9-81ED-4DB2-BD59-A6C34878D82A}">
                    <a16:rowId xmlns:a16="http://schemas.microsoft.com/office/drawing/2014/main" val="10000"/>
                  </a:ext>
                </a:extLst>
              </a:tr>
              <a:tr h="473517">
                <a:tc>
                  <a:txBody>
                    <a:bodyPr/>
                    <a:lstStyle/>
                    <a:p>
                      <a:pPr>
                        <a:defRPr sz="1200" b="0">
                          <a:latin typeface="Calibri"/>
                        </a:defRPr>
                      </a:pPr>
                      <a:r>
                        <a:t>GRACE</a:t>
                      </a:r>
                    </a:p>
                  </a:txBody>
                  <a:tcPr/>
                </a:tc>
                <a:tc>
                  <a:txBody>
                    <a:bodyPr/>
                    <a:lstStyle/>
                    <a:p>
                      <a:pPr>
                        <a:defRPr sz="1200" b="0">
                          <a:latin typeface="Calibri"/>
                        </a:defRPr>
                      </a:pPr>
                      <a:r>
                        <a:t>Lu et al. (2024)</a:t>
                      </a:r>
                    </a:p>
                  </a:txBody>
                  <a:tcPr/>
                </a:tc>
                <a:tc>
                  <a:txBody>
                    <a:bodyPr/>
                    <a:lstStyle/>
                    <a:p>
                      <a:pPr>
                        <a:defRPr sz="1200" b="0">
                          <a:latin typeface="Calibri"/>
                        </a:defRPr>
                      </a:pPr>
                      <a:r>
                        <a:t>Graph-enhanced LLM + ICL</a:t>
                      </a:r>
                    </a:p>
                  </a:txBody>
                  <a:tcPr/>
                </a:tc>
                <a:tc>
                  <a:txBody>
                    <a:bodyPr/>
                    <a:lstStyle/>
                    <a:p>
                      <a:pPr>
                        <a:defRPr sz="1200" b="0">
                          <a:latin typeface="Calibri"/>
                        </a:defRPr>
                      </a:pPr>
                      <a:r>
                        <a:t>Prompt sensitivity, limited languages</a:t>
                      </a:r>
                    </a:p>
                  </a:txBody>
                  <a:tcPr/>
                </a:tc>
                <a:extLst>
                  <a:ext uri="{0D108BD9-81ED-4DB2-BD59-A6C34878D82A}">
                    <a16:rowId xmlns:a16="http://schemas.microsoft.com/office/drawing/2014/main" val="10001"/>
                  </a:ext>
                </a:extLst>
              </a:tr>
              <a:tr h="473517">
                <a:tc>
                  <a:txBody>
                    <a:bodyPr/>
                    <a:lstStyle/>
                    <a:p>
                      <a:pPr>
                        <a:defRPr sz="1200" b="0">
                          <a:latin typeface="Calibri"/>
                        </a:defRPr>
                      </a:pPr>
                      <a:r>
                        <a:t>DLAP</a:t>
                      </a:r>
                    </a:p>
                  </a:txBody>
                  <a:tcPr/>
                </a:tc>
                <a:tc>
                  <a:txBody>
                    <a:bodyPr/>
                    <a:lstStyle/>
                    <a:p>
                      <a:pPr>
                        <a:defRPr sz="1200" b="0">
                          <a:latin typeface="Calibri"/>
                        </a:defRPr>
                      </a:pPr>
                      <a:r>
                        <a:t>Yang et al. (2025)</a:t>
                      </a:r>
                    </a:p>
                  </a:txBody>
                  <a:tcPr/>
                </a:tc>
                <a:tc>
                  <a:txBody>
                    <a:bodyPr/>
                    <a:lstStyle/>
                    <a:p>
                      <a:pPr>
                        <a:defRPr sz="1200" b="0">
                          <a:latin typeface="Calibri"/>
                        </a:defRPr>
                      </a:pPr>
                      <a:r>
                        <a:t>DL-guided prompting</a:t>
                      </a:r>
                    </a:p>
                  </a:txBody>
                  <a:tcPr/>
                </a:tc>
                <a:tc>
                  <a:txBody>
                    <a:bodyPr/>
                    <a:lstStyle/>
                    <a:p>
                      <a:pPr>
                        <a:defRPr sz="1200" b="0">
                          <a:latin typeface="Calibri"/>
                        </a:defRPr>
                      </a:pPr>
                      <a:r>
                        <a:t>Dependent on DL model quality</a:t>
                      </a:r>
                    </a:p>
                  </a:txBody>
                  <a:tcPr/>
                </a:tc>
                <a:extLst>
                  <a:ext uri="{0D108BD9-81ED-4DB2-BD59-A6C34878D82A}">
                    <a16:rowId xmlns:a16="http://schemas.microsoft.com/office/drawing/2014/main" val="10002"/>
                  </a:ext>
                </a:extLst>
              </a:tr>
              <a:tr h="473517">
                <a:tc>
                  <a:txBody>
                    <a:bodyPr/>
                    <a:lstStyle/>
                    <a:p>
                      <a:pPr>
                        <a:defRPr sz="1200" b="0">
                          <a:latin typeface="Calibri"/>
                        </a:defRPr>
                      </a:pPr>
                      <a:r>
                        <a:t>FUSEVUL</a:t>
                      </a:r>
                    </a:p>
                  </a:txBody>
                  <a:tcPr/>
                </a:tc>
                <a:tc>
                  <a:txBody>
                    <a:bodyPr/>
                    <a:lstStyle/>
                    <a:p>
                      <a:pPr>
                        <a:defRPr sz="1200" b="0">
                          <a:latin typeface="Calibri"/>
                        </a:defRPr>
                      </a:pPr>
                      <a:r>
                        <a:t>Tian et al. (2025)</a:t>
                      </a:r>
                    </a:p>
                  </a:txBody>
                  <a:tcPr/>
                </a:tc>
                <a:tc>
                  <a:txBody>
                    <a:bodyPr/>
                    <a:lstStyle/>
                    <a:p>
                      <a:pPr>
                        <a:defRPr sz="1200" b="0">
                          <a:latin typeface="Calibri"/>
                        </a:defRPr>
                      </a:pPr>
                      <a:r>
                        <a:t>Multi-modal detection</a:t>
                      </a:r>
                    </a:p>
                  </a:txBody>
                  <a:tcPr/>
                </a:tc>
                <a:tc>
                  <a:txBody>
                    <a:bodyPr/>
                    <a:lstStyle/>
                    <a:p>
                      <a:pPr>
                        <a:defRPr sz="1200" b="0">
                          <a:latin typeface="Calibri"/>
                        </a:defRPr>
                      </a:pPr>
                      <a:r>
                        <a:t>Limited to C/C++, basic prompting</a:t>
                      </a:r>
                    </a:p>
                  </a:txBody>
                  <a:tcPr/>
                </a:tc>
                <a:extLst>
                  <a:ext uri="{0D108BD9-81ED-4DB2-BD59-A6C34878D82A}">
                    <a16:rowId xmlns:a16="http://schemas.microsoft.com/office/drawing/2014/main" val="10003"/>
                  </a:ext>
                </a:extLst>
              </a:tr>
              <a:tr h="473517">
                <a:tc>
                  <a:txBody>
                    <a:bodyPr/>
                    <a:lstStyle/>
                    <a:p>
                      <a:pPr>
                        <a:defRPr sz="1200" b="0">
                          <a:latin typeface="Calibri"/>
                        </a:defRPr>
                      </a:pPr>
                      <a:r>
                        <a:t>LLMVulExp</a:t>
                      </a:r>
                    </a:p>
                  </a:txBody>
                  <a:tcPr/>
                </a:tc>
                <a:tc>
                  <a:txBody>
                    <a:bodyPr/>
                    <a:lstStyle/>
                    <a:p>
                      <a:pPr>
                        <a:defRPr sz="1200" b="0">
                          <a:latin typeface="Calibri"/>
                        </a:defRPr>
                      </a:pPr>
                      <a:r>
                        <a:t>Mao et al. (2025)</a:t>
                      </a:r>
                    </a:p>
                  </a:txBody>
                  <a:tcPr/>
                </a:tc>
                <a:tc>
                  <a:txBody>
                    <a:bodyPr/>
                    <a:lstStyle/>
                    <a:p>
                      <a:pPr>
                        <a:defRPr sz="1200" b="0">
                          <a:latin typeface="Calibri"/>
                        </a:defRPr>
                      </a:pPr>
                      <a:r>
                        <a:rPr dirty="0"/>
                        <a:t>Explainable via teacher-student</a:t>
                      </a:r>
                    </a:p>
                  </a:txBody>
                  <a:tcPr/>
                </a:tc>
                <a:tc>
                  <a:txBody>
                    <a:bodyPr/>
                    <a:lstStyle/>
                    <a:p>
                      <a:pPr>
                        <a:defRPr sz="1200" b="0">
                          <a:latin typeface="Calibri"/>
                        </a:defRPr>
                      </a:pPr>
                      <a:r>
                        <a:t>High annotation &amp; compute cost</a:t>
                      </a:r>
                    </a:p>
                  </a:txBody>
                  <a:tcPr/>
                </a:tc>
                <a:extLst>
                  <a:ext uri="{0D108BD9-81ED-4DB2-BD59-A6C34878D82A}">
                    <a16:rowId xmlns:a16="http://schemas.microsoft.com/office/drawing/2014/main" val="10004"/>
                  </a:ext>
                </a:extLst>
              </a:tr>
              <a:tr h="473517">
                <a:tc>
                  <a:txBody>
                    <a:bodyPr/>
                    <a:lstStyle/>
                    <a:p>
                      <a:pPr>
                        <a:defRPr sz="1200" b="0">
                          <a:latin typeface="Calibri"/>
                        </a:defRPr>
                      </a:pPr>
                      <a:r>
                        <a:t>VulACLLM</a:t>
                      </a:r>
                    </a:p>
                  </a:txBody>
                  <a:tcPr/>
                </a:tc>
                <a:tc>
                  <a:txBody>
                    <a:bodyPr/>
                    <a:lstStyle/>
                    <a:p>
                      <a:pPr>
                        <a:defRPr sz="1200" b="0">
                          <a:latin typeface="Calibri"/>
                        </a:defRPr>
                      </a:pPr>
                      <a:r>
                        <a:t>Liu et al. (2025)</a:t>
                      </a:r>
                    </a:p>
                  </a:txBody>
                  <a:tcPr/>
                </a:tc>
                <a:tc>
                  <a:txBody>
                    <a:bodyPr/>
                    <a:lstStyle/>
                    <a:p>
                      <a:pPr>
                        <a:defRPr sz="1200" b="0">
                          <a:latin typeface="Calibri"/>
                        </a:defRPr>
                      </a:pPr>
                      <a:r>
                        <a:t>AST+CFG+LoRA/distillation</a:t>
                      </a:r>
                    </a:p>
                  </a:txBody>
                  <a:tcPr/>
                </a:tc>
                <a:tc>
                  <a:txBody>
                    <a:bodyPr/>
                    <a:lstStyle/>
                    <a:p>
                      <a:pPr>
                        <a:defRPr sz="1200" b="0">
                          <a:latin typeface="Calibri"/>
                        </a:defRPr>
                      </a:pPr>
                      <a:r>
                        <a:t>Performance trade-off from compression</a:t>
                      </a:r>
                    </a:p>
                  </a:txBody>
                  <a:tcPr/>
                </a:tc>
                <a:extLst>
                  <a:ext uri="{0D108BD9-81ED-4DB2-BD59-A6C34878D82A}">
                    <a16:rowId xmlns:a16="http://schemas.microsoft.com/office/drawing/2014/main" val="10005"/>
                  </a:ext>
                </a:extLst>
              </a:tr>
              <a:tr h="473517">
                <a:tc>
                  <a:txBody>
                    <a:bodyPr/>
                    <a:lstStyle/>
                    <a:p>
                      <a:pPr>
                        <a:defRPr sz="1200" b="0">
                          <a:latin typeface="Calibri"/>
                        </a:defRPr>
                      </a:pPr>
                      <a:r>
                        <a:t>SecureFalcon</a:t>
                      </a:r>
                    </a:p>
                  </a:txBody>
                  <a:tcPr/>
                </a:tc>
                <a:tc>
                  <a:txBody>
                    <a:bodyPr/>
                    <a:lstStyle/>
                    <a:p>
                      <a:pPr>
                        <a:defRPr sz="1200" b="0">
                          <a:latin typeface="Calibri"/>
                        </a:defRPr>
                      </a:pPr>
                      <a:r>
                        <a:t>Ferrag et al. (2025)</a:t>
                      </a:r>
                    </a:p>
                  </a:txBody>
                  <a:tcPr/>
                </a:tc>
                <a:tc>
                  <a:txBody>
                    <a:bodyPr/>
                    <a:lstStyle/>
                    <a:p>
                      <a:pPr>
                        <a:defRPr sz="1200" b="0">
                          <a:latin typeface="Calibri"/>
                        </a:defRPr>
                      </a:pPr>
                      <a:r>
                        <a:t>Compact LLM classification</a:t>
                      </a:r>
                    </a:p>
                  </a:txBody>
                  <a:tcPr/>
                </a:tc>
                <a:tc>
                  <a:txBody>
                    <a:bodyPr/>
                    <a:lstStyle/>
                    <a:p>
                      <a:pPr>
                        <a:defRPr sz="1200" b="0">
                          <a:latin typeface="Calibri"/>
                        </a:defRPr>
                      </a:pPr>
                      <a:r>
                        <a:t>Limited to known patterns</a:t>
                      </a:r>
                    </a:p>
                  </a:txBody>
                  <a:tcPr/>
                </a:tc>
                <a:extLst>
                  <a:ext uri="{0D108BD9-81ED-4DB2-BD59-A6C34878D82A}">
                    <a16:rowId xmlns:a16="http://schemas.microsoft.com/office/drawing/2014/main" val="10006"/>
                  </a:ext>
                </a:extLst>
              </a:tr>
              <a:tr h="473517">
                <a:tc>
                  <a:txBody>
                    <a:bodyPr/>
                    <a:lstStyle/>
                    <a:p>
                      <a:pPr>
                        <a:defRPr sz="1200" b="0">
                          <a:latin typeface="Calibri"/>
                        </a:defRPr>
                      </a:pPr>
                      <a:r>
                        <a:t>RLV</a:t>
                      </a:r>
                    </a:p>
                  </a:txBody>
                  <a:tcPr/>
                </a:tc>
                <a:tc>
                  <a:txBody>
                    <a:bodyPr/>
                    <a:lstStyle/>
                    <a:p>
                      <a:pPr>
                        <a:defRPr sz="1200" b="0">
                          <a:latin typeface="Calibri"/>
                        </a:defRPr>
                      </a:pPr>
                      <a:r>
                        <a:t>Qiu et al. (2026)</a:t>
                      </a:r>
                    </a:p>
                  </a:txBody>
                  <a:tcPr/>
                </a:tc>
                <a:tc>
                  <a:txBody>
                    <a:bodyPr/>
                    <a:lstStyle/>
                    <a:p>
                      <a:pPr>
                        <a:defRPr sz="1200" b="0">
                          <a:latin typeface="Calibri"/>
                        </a:defRPr>
                      </a:pPr>
                      <a:r>
                        <a:t>Repository-level context</a:t>
                      </a:r>
                    </a:p>
                  </a:txBody>
                  <a:tcPr/>
                </a:tc>
                <a:tc>
                  <a:txBody>
                    <a:bodyPr/>
                    <a:lstStyle/>
                    <a:p>
                      <a:pPr>
                        <a:defRPr sz="1200" b="0">
                          <a:latin typeface="Calibri"/>
                        </a:defRPr>
                      </a:pPr>
                      <a:r>
                        <a:t>Context-length limits</a:t>
                      </a:r>
                    </a:p>
                  </a:txBody>
                  <a:tcPr/>
                </a:tc>
                <a:extLst>
                  <a:ext uri="{0D108BD9-81ED-4DB2-BD59-A6C34878D82A}">
                    <a16:rowId xmlns:a16="http://schemas.microsoft.com/office/drawing/2014/main" val="10007"/>
                  </a:ext>
                </a:extLst>
              </a:tr>
              <a:tr h="473523">
                <a:tc>
                  <a:txBody>
                    <a:bodyPr/>
                    <a:lstStyle/>
                    <a:p>
                      <a:pPr>
                        <a:defRPr sz="1200" b="0">
                          <a:latin typeface="Calibri"/>
                        </a:defRPr>
                      </a:pPr>
                      <a:r>
                        <a:t>GPTVD</a:t>
                      </a:r>
                    </a:p>
                  </a:txBody>
                  <a:tcPr/>
                </a:tc>
                <a:tc>
                  <a:txBody>
                    <a:bodyPr/>
                    <a:lstStyle/>
                    <a:p>
                      <a:pPr>
                        <a:defRPr sz="1200" b="0">
                          <a:latin typeface="Calibri"/>
                        </a:defRPr>
                      </a:pPr>
                      <a:r>
                        <a:t>Chen et al. (2026)</a:t>
                      </a:r>
                    </a:p>
                  </a:txBody>
                  <a:tcPr/>
                </a:tc>
                <a:tc>
                  <a:txBody>
                    <a:bodyPr/>
                    <a:lstStyle/>
                    <a:p>
                      <a:pPr>
                        <a:defRPr sz="1200" b="0">
                          <a:latin typeface="Calibri"/>
                        </a:defRPr>
                      </a:pPr>
                      <a:r>
                        <a:t>Static slicing + CoT</a:t>
                      </a:r>
                    </a:p>
                  </a:txBody>
                  <a:tcPr/>
                </a:tc>
                <a:tc>
                  <a:txBody>
                    <a:bodyPr/>
                    <a:lstStyle/>
                    <a:p>
                      <a:pPr>
                        <a:defRPr sz="1200" b="0">
                          <a:latin typeface="Calibri"/>
                        </a:defRPr>
                      </a:pPr>
                      <a:r>
                        <a:rPr dirty="0"/>
                        <a:t>Limited dataset, scalability</a:t>
                      </a:r>
                    </a:p>
                  </a:txBody>
                  <a:tcPr/>
                </a:tc>
                <a:extLst>
                  <a:ext uri="{0D108BD9-81ED-4DB2-BD59-A6C34878D82A}">
                    <a16:rowId xmlns:a16="http://schemas.microsoft.com/office/drawing/2014/main" val="10008"/>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25181-C48E-A95D-3BCC-67E3C8873D4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081C287-AF4D-1B57-1D0E-3B1679491100}"/>
              </a:ext>
            </a:extLst>
          </p:cNvPr>
          <p:cNvSpPr>
            <a:spLocks noGrp="1"/>
          </p:cNvSpPr>
          <p:nvPr>
            <p:ph type="title"/>
          </p:nvPr>
        </p:nvSpPr>
        <p:spPr>
          <a:xfrm>
            <a:off x="1248637" y="757654"/>
            <a:ext cx="9247085" cy="421500"/>
          </a:xfrm>
        </p:spPr>
        <p:txBody>
          <a:bodyPr/>
          <a:lstStyle/>
          <a:p>
            <a:r>
              <a:rPr lang="en-US" dirty="0"/>
              <a:t>Related Work — Existing Approaches</a:t>
            </a:r>
          </a:p>
        </p:txBody>
      </p:sp>
      <p:graphicFrame>
        <p:nvGraphicFramePr>
          <p:cNvPr id="6" name="Table 5">
            <a:extLst>
              <a:ext uri="{FF2B5EF4-FFF2-40B4-BE49-F238E27FC236}">
                <a16:creationId xmlns:a16="http://schemas.microsoft.com/office/drawing/2014/main" id="{094917EE-66C8-0C3F-670B-73A01BD11A40}"/>
              </a:ext>
            </a:extLst>
          </p:cNvPr>
          <p:cNvGraphicFramePr>
            <a:graphicFrameLocks noGrp="1"/>
          </p:cNvGraphicFramePr>
          <p:nvPr/>
        </p:nvGraphicFramePr>
        <p:xfrm>
          <a:off x="1295400" y="1810978"/>
          <a:ext cx="9601200" cy="4261659"/>
        </p:xfrm>
        <a:graphic>
          <a:graphicData uri="http://schemas.openxmlformats.org/drawingml/2006/table">
            <a:tbl>
              <a:tblPr firstRow="1" bandRow="1">
                <a:tableStyleId>{5C22544A-7EE6-4342-B048-85BDC9FD1C3A}</a:tableStyleId>
              </a:tblPr>
              <a:tblGrid>
                <a:gridCol w="2400300">
                  <a:extLst>
                    <a:ext uri="{9D8B030D-6E8A-4147-A177-3AD203B41FA5}">
                      <a16:colId xmlns:a16="http://schemas.microsoft.com/office/drawing/2014/main" val="20000"/>
                    </a:ext>
                  </a:extLst>
                </a:gridCol>
                <a:gridCol w="2400300">
                  <a:extLst>
                    <a:ext uri="{9D8B030D-6E8A-4147-A177-3AD203B41FA5}">
                      <a16:colId xmlns:a16="http://schemas.microsoft.com/office/drawing/2014/main" val="20001"/>
                    </a:ext>
                  </a:extLst>
                </a:gridCol>
                <a:gridCol w="2400300">
                  <a:extLst>
                    <a:ext uri="{9D8B030D-6E8A-4147-A177-3AD203B41FA5}">
                      <a16:colId xmlns:a16="http://schemas.microsoft.com/office/drawing/2014/main" val="20002"/>
                    </a:ext>
                  </a:extLst>
                </a:gridCol>
                <a:gridCol w="2400300">
                  <a:extLst>
                    <a:ext uri="{9D8B030D-6E8A-4147-A177-3AD203B41FA5}">
                      <a16:colId xmlns:a16="http://schemas.microsoft.com/office/drawing/2014/main" val="20003"/>
                    </a:ext>
                  </a:extLst>
                </a:gridCol>
              </a:tblGrid>
              <a:tr h="473517">
                <a:tc>
                  <a:txBody>
                    <a:bodyPr/>
                    <a:lstStyle/>
                    <a:p>
                      <a:pPr>
                        <a:defRPr sz="1400" b="1">
                          <a:solidFill>
                            <a:srgbClr val="FFFFFF"/>
                          </a:solidFill>
                          <a:latin typeface="Calibri"/>
                        </a:defRPr>
                      </a:pPr>
                      <a:r>
                        <a:t>Framework</a:t>
                      </a:r>
                    </a:p>
                  </a:txBody>
                  <a:tcPr>
                    <a:solidFill>
                      <a:srgbClr val="A4123F"/>
                    </a:solidFill>
                  </a:tcPr>
                </a:tc>
                <a:tc>
                  <a:txBody>
                    <a:bodyPr/>
                    <a:lstStyle/>
                    <a:p>
                      <a:pPr>
                        <a:defRPr sz="1400" b="1">
                          <a:solidFill>
                            <a:srgbClr val="FFFFFF"/>
                          </a:solidFill>
                          <a:latin typeface="Calibri"/>
                        </a:defRPr>
                      </a:pPr>
                      <a:r>
                        <a:t>Authors</a:t>
                      </a:r>
                    </a:p>
                  </a:txBody>
                  <a:tcPr>
                    <a:solidFill>
                      <a:srgbClr val="A4123F"/>
                    </a:solidFill>
                  </a:tcPr>
                </a:tc>
                <a:tc>
                  <a:txBody>
                    <a:bodyPr/>
                    <a:lstStyle/>
                    <a:p>
                      <a:pPr>
                        <a:defRPr sz="1400" b="1">
                          <a:solidFill>
                            <a:srgbClr val="FFFFFF"/>
                          </a:solidFill>
                          <a:latin typeface="Calibri"/>
                        </a:defRPr>
                      </a:pPr>
                      <a:r>
                        <a:t>Focus</a:t>
                      </a:r>
                    </a:p>
                  </a:txBody>
                  <a:tcPr>
                    <a:solidFill>
                      <a:srgbClr val="A4123F"/>
                    </a:solidFill>
                  </a:tcPr>
                </a:tc>
                <a:tc>
                  <a:txBody>
                    <a:bodyPr/>
                    <a:lstStyle/>
                    <a:p>
                      <a:pPr>
                        <a:defRPr sz="1400" b="1">
                          <a:solidFill>
                            <a:srgbClr val="FFFFFF"/>
                          </a:solidFill>
                          <a:latin typeface="Calibri"/>
                        </a:defRPr>
                      </a:pPr>
                      <a:r>
                        <a:t>Limitation</a:t>
                      </a:r>
                    </a:p>
                  </a:txBody>
                  <a:tcPr>
                    <a:solidFill>
                      <a:srgbClr val="A4123F"/>
                    </a:solidFill>
                  </a:tcPr>
                </a:tc>
                <a:extLst>
                  <a:ext uri="{0D108BD9-81ED-4DB2-BD59-A6C34878D82A}">
                    <a16:rowId xmlns:a16="http://schemas.microsoft.com/office/drawing/2014/main" val="10000"/>
                  </a:ext>
                </a:extLst>
              </a:tr>
              <a:tr h="473517">
                <a:tc>
                  <a:txBody>
                    <a:bodyPr/>
                    <a:lstStyle/>
                    <a:p>
                      <a:pPr>
                        <a:defRPr sz="1200" b="0">
                          <a:latin typeface="Calibri"/>
                        </a:defRPr>
                      </a:pPr>
                      <a:r>
                        <a:rPr dirty="0"/>
                        <a:t>GRACE</a:t>
                      </a:r>
                    </a:p>
                  </a:txBody>
                  <a:tcPr/>
                </a:tc>
                <a:tc>
                  <a:txBody>
                    <a:bodyPr/>
                    <a:lstStyle/>
                    <a:p>
                      <a:pPr>
                        <a:defRPr sz="1200" b="0">
                          <a:latin typeface="Calibri"/>
                        </a:defRPr>
                      </a:pPr>
                      <a:r>
                        <a:t>Lu et al. (2024)</a:t>
                      </a:r>
                    </a:p>
                  </a:txBody>
                  <a:tcPr/>
                </a:tc>
                <a:tc>
                  <a:txBody>
                    <a:bodyPr/>
                    <a:lstStyle/>
                    <a:p>
                      <a:pPr>
                        <a:defRPr sz="1200" b="0">
                          <a:latin typeface="Calibri"/>
                        </a:defRPr>
                      </a:pPr>
                      <a:r>
                        <a:t>Graph-enhanced LLM + ICL</a:t>
                      </a:r>
                    </a:p>
                  </a:txBody>
                  <a:tcPr/>
                </a:tc>
                <a:tc>
                  <a:txBody>
                    <a:bodyPr/>
                    <a:lstStyle/>
                    <a:p>
                      <a:pPr>
                        <a:defRPr sz="1200" b="0">
                          <a:latin typeface="Calibri"/>
                        </a:defRPr>
                      </a:pPr>
                      <a:r>
                        <a:t>Prompt sensitivity, limited languages</a:t>
                      </a:r>
                    </a:p>
                  </a:txBody>
                  <a:tcPr/>
                </a:tc>
                <a:extLst>
                  <a:ext uri="{0D108BD9-81ED-4DB2-BD59-A6C34878D82A}">
                    <a16:rowId xmlns:a16="http://schemas.microsoft.com/office/drawing/2014/main" val="10001"/>
                  </a:ext>
                </a:extLst>
              </a:tr>
              <a:tr h="473517">
                <a:tc>
                  <a:txBody>
                    <a:bodyPr/>
                    <a:lstStyle/>
                    <a:p>
                      <a:pPr>
                        <a:defRPr sz="1200" b="0">
                          <a:latin typeface="Calibri"/>
                        </a:defRPr>
                      </a:pPr>
                      <a:r>
                        <a:t>DLAP</a:t>
                      </a:r>
                    </a:p>
                  </a:txBody>
                  <a:tcPr/>
                </a:tc>
                <a:tc>
                  <a:txBody>
                    <a:bodyPr/>
                    <a:lstStyle/>
                    <a:p>
                      <a:pPr>
                        <a:defRPr sz="1200" b="0">
                          <a:latin typeface="Calibri"/>
                        </a:defRPr>
                      </a:pPr>
                      <a:r>
                        <a:t>Yang et al. (2025)</a:t>
                      </a:r>
                    </a:p>
                  </a:txBody>
                  <a:tcPr/>
                </a:tc>
                <a:tc>
                  <a:txBody>
                    <a:bodyPr/>
                    <a:lstStyle/>
                    <a:p>
                      <a:pPr>
                        <a:defRPr sz="1200" b="0">
                          <a:latin typeface="Calibri"/>
                        </a:defRPr>
                      </a:pPr>
                      <a:r>
                        <a:t>DL-guided prompting</a:t>
                      </a:r>
                    </a:p>
                  </a:txBody>
                  <a:tcPr/>
                </a:tc>
                <a:tc>
                  <a:txBody>
                    <a:bodyPr/>
                    <a:lstStyle/>
                    <a:p>
                      <a:pPr>
                        <a:defRPr sz="1200" b="0">
                          <a:latin typeface="Calibri"/>
                        </a:defRPr>
                      </a:pPr>
                      <a:r>
                        <a:t>Dependent on DL model quality</a:t>
                      </a:r>
                    </a:p>
                  </a:txBody>
                  <a:tcPr/>
                </a:tc>
                <a:extLst>
                  <a:ext uri="{0D108BD9-81ED-4DB2-BD59-A6C34878D82A}">
                    <a16:rowId xmlns:a16="http://schemas.microsoft.com/office/drawing/2014/main" val="10002"/>
                  </a:ext>
                </a:extLst>
              </a:tr>
              <a:tr h="473517">
                <a:tc>
                  <a:txBody>
                    <a:bodyPr/>
                    <a:lstStyle/>
                    <a:p>
                      <a:pPr>
                        <a:defRPr sz="1200" b="0">
                          <a:latin typeface="Calibri"/>
                        </a:defRPr>
                      </a:pPr>
                      <a:r>
                        <a:t>FUSEVUL</a:t>
                      </a:r>
                    </a:p>
                  </a:txBody>
                  <a:tcPr/>
                </a:tc>
                <a:tc>
                  <a:txBody>
                    <a:bodyPr/>
                    <a:lstStyle/>
                    <a:p>
                      <a:pPr>
                        <a:defRPr sz="1200" b="0">
                          <a:latin typeface="Calibri"/>
                        </a:defRPr>
                      </a:pPr>
                      <a:r>
                        <a:t>Tian et al. (2025)</a:t>
                      </a:r>
                    </a:p>
                  </a:txBody>
                  <a:tcPr/>
                </a:tc>
                <a:tc>
                  <a:txBody>
                    <a:bodyPr/>
                    <a:lstStyle/>
                    <a:p>
                      <a:pPr>
                        <a:defRPr sz="1200" b="0">
                          <a:latin typeface="Calibri"/>
                        </a:defRPr>
                      </a:pPr>
                      <a:r>
                        <a:t>Multi-modal detection</a:t>
                      </a:r>
                    </a:p>
                  </a:txBody>
                  <a:tcPr/>
                </a:tc>
                <a:tc>
                  <a:txBody>
                    <a:bodyPr/>
                    <a:lstStyle/>
                    <a:p>
                      <a:pPr>
                        <a:defRPr sz="1200" b="0">
                          <a:latin typeface="Calibri"/>
                        </a:defRPr>
                      </a:pPr>
                      <a:r>
                        <a:t>Limited to C/C++, basic prompting</a:t>
                      </a:r>
                    </a:p>
                  </a:txBody>
                  <a:tcPr/>
                </a:tc>
                <a:extLst>
                  <a:ext uri="{0D108BD9-81ED-4DB2-BD59-A6C34878D82A}">
                    <a16:rowId xmlns:a16="http://schemas.microsoft.com/office/drawing/2014/main" val="10003"/>
                  </a:ext>
                </a:extLst>
              </a:tr>
              <a:tr h="473517">
                <a:tc>
                  <a:txBody>
                    <a:bodyPr/>
                    <a:lstStyle/>
                    <a:p>
                      <a:pPr>
                        <a:defRPr sz="1200" b="0">
                          <a:latin typeface="Calibri"/>
                        </a:defRPr>
                      </a:pPr>
                      <a:r>
                        <a:t>LLMVulExp</a:t>
                      </a:r>
                    </a:p>
                  </a:txBody>
                  <a:tcPr/>
                </a:tc>
                <a:tc>
                  <a:txBody>
                    <a:bodyPr/>
                    <a:lstStyle/>
                    <a:p>
                      <a:pPr>
                        <a:defRPr sz="1200" b="0">
                          <a:latin typeface="Calibri"/>
                        </a:defRPr>
                      </a:pPr>
                      <a:r>
                        <a:t>Mao et al. (2025)</a:t>
                      </a:r>
                    </a:p>
                  </a:txBody>
                  <a:tcPr/>
                </a:tc>
                <a:tc>
                  <a:txBody>
                    <a:bodyPr/>
                    <a:lstStyle/>
                    <a:p>
                      <a:pPr>
                        <a:defRPr sz="1200" b="0">
                          <a:latin typeface="Calibri"/>
                        </a:defRPr>
                      </a:pPr>
                      <a:r>
                        <a:rPr dirty="0"/>
                        <a:t>Explainable via teacher-student</a:t>
                      </a:r>
                    </a:p>
                  </a:txBody>
                  <a:tcPr/>
                </a:tc>
                <a:tc>
                  <a:txBody>
                    <a:bodyPr/>
                    <a:lstStyle/>
                    <a:p>
                      <a:pPr>
                        <a:defRPr sz="1200" b="0">
                          <a:latin typeface="Calibri"/>
                        </a:defRPr>
                      </a:pPr>
                      <a:r>
                        <a:t>High annotation &amp; compute cost</a:t>
                      </a:r>
                    </a:p>
                  </a:txBody>
                  <a:tcPr/>
                </a:tc>
                <a:extLst>
                  <a:ext uri="{0D108BD9-81ED-4DB2-BD59-A6C34878D82A}">
                    <a16:rowId xmlns:a16="http://schemas.microsoft.com/office/drawing/2014/main" val="10004"/>
                  </a:ext>
                </a:extLst>
              </a:tr>
              <a:tr h="473517">
                <a:tc>
                  <a:txBody>
                    <a:bodyPr/>
                    <a:lstStyle/>
                    <a:p>
                      <a:pPr>
                        <a:defRPr sz="1200" b="0">
                          <a:latin typeface="Calibri"/>
                        </a:defRPr>
                      </a:pPr>
                      <a:r>
                        <a:t>VulACLLM</a:t>
                      </a:r>
                    </a:p>
                  </a:txBody>
                  <a:tcPr/>
                </a:tc>
                <a:tc>
                  <a:txBody>
                    <a:bodyPr/>
                    <a:lstStyle/>
                    <a:p>
                      <a:pPr>
                        <a:defRPr sz="1200" b="0">
                          <a:latin typeface="Calibri"/>
                        </a:defRPr>
                      </a:pPr>
                      <a:r>
                        <a:t>Liu et al. (2025)</a:t>
                      </a:r>
                    </a:p>
                  </a:txBody>
                  <a:tcPr/>
                </a:tc>
                <a:tc>
                  <a:txBody>
                    <a:bodyPr/>
                    <a:lstStyle/>
                    <a:p>
                      <a:pPr>
                        <a:defRPr sz="1200" b="0">
                          <a:latin typeface="Calibri"/>
                        </a:defRPr>
                      </a:pPr>
                      <a:r>
                        <a:t>AST+CFG+LoRA/distillation</a:t>
                      </a:r>
                    </a:p>
                  </a:txBody>
                  <a:tcPr/>
                </a:tc>
                <a:tc>
                  <a:txBody>
                    <a:bodyPr/>
                    <a:lstStyle/>
                    <a:p>
                      <a:pPr>
                        <a:defRPr sz="1200" b="0">
                          <a:latin typeface="Calibri"/>
                        </a:defRPr>
                      </a:pPr>
                      <a:r>
                        <a:t>Performance trade-off from compression</a:t>
                      </a:r>
                    </a:p>
                  </a:txBody>
                  <a:tcPr/>
                </a:tc>
                <a:extLst>
                  <a:ext uri="{0D108BD9-81ED-4DB2-BD59-A6C34878D82A}">
                    <a16:rowId xmlns:a16="http://schemas.microsoft.com/office/drawing/2014/main" val="10005"/>
                  </a:ext>
                </a:extLst>
              </a:tr>
              <a:tr h="473517">
                <a:tc>
                  <a:txBody>
                    <a:bodyPr/>
                    <a:lstStyle/>
                    <a:p>
                      <a:pPr>
                        <a:defRPr sz="1200" b="0">
                          <a:latin typeface="Calibri"/>
                        </a:defRPr>
                      </a:pPr>
                      <a:r>
                        <a:t>SecureFalcon</a:t>
                      </a:r>
                    </a:p>
                  </a:txBody>
                  <a:tcPr/>
                </a:tc>
                <a:tc>
                  <a:txBody>
                    <a:bodyPr/>
                    <a:lstStyle/>
                    <a:p>
                      <a:pPr>
                        <a:defRPr sz="1200" b="0">
                          <a:latin typeface="Calibri"/>
                        </a:defRPr>
                      </a:pPr>
                      <a:r>
                        <a:t>Ferrag et al. (2025)</a:t>
                      </a:r>
                    </a:p>
                  </a:txBody>
                  <a:tcPr/>
                </a:tc>
                <a:tc>
                  <a:txBody>
                    <a:bodyPr/>
                    <a:lstStyle/>
                    <a:p>
                      <a:pPr>
                        <a:defRPr sz="1200" b="0">
                          <a:latin typeface="Calibri"/>
                        </a:defRPr>
                      </a:pPr>
                      <a:r>
                        <a:t>Compact LLM classification</a:t>
                      </a:r>
                    </a:p>
                  </a:txBody>
                  <a:tcPr/>
                </a:tc>
                <a:tc>
                  <a:txBody>
                    <a:bodyPr/>
                    <a:lstStyle/>
                    <a:p>
                      <a:pPr>
                        <a:defRPr sz="1200" b="0">
                          <a:latin typeface="Calibri"/>
                        </a:defRPr>
                      </a:pPr>
                      <a:r>
                        <a:t>Limited to known patterns</a:t>
                      </a:r>
                    </a:p>
                  </a:txBody>
                  <a:tcPr/>
                </a:tc>
                <a:extLst>
                  <a:ext uri="{0D108BD9-81ED-4DB2-BD59-A6C34878D82A}">
                    <a16:rowId xmlns:a16="http://schemas.microsoft.com/office/drawing/2014/main" val="10006"/>
                  </a:ext>
                </a:extLst>
              </a:tr>
              <a:tr h="473517">
                <a:tc>
                  <a:txBody>
                    <a:bodyPr/>
                    <a:lstStyle/>
                    <a:p>
                      <a:pPr>
                        <a:defRPr sz="1200" b="0">
                          <a:latin typeface="Calibri"/>
                        </a:defRPr>
                      </a:pPr>
                      <a:r>
                        <a:t>RLV</a:t>
                      </a:r>
                    </a:p>
                  </a:txBody>
                  <a:tcPr/>
                </a:tc>
                <a:tc>
                  <a:txBody>
                    <a:bodyPr/>
                    <a:lstStyle/>
                    <a:p>
                      <a:pPr>
                        <a:defRPr sz="1200" b="0">
                          <a:latin typeface="Calibri"/>
                        </a:defRPr>
                      </a:pPr>
                      <a:r>
                        <a:t>Qiu et al. (2026)</a:t>
                      </a:r>
                    </a:p>
                  </a:txBody>
                  <a:tcPr/>
                </a:tc>
                <a:tc>
                  <a:txBody>
                    <a:bodyPr/>
                    <a:lstStyle/>
                    <a:p>
                      <a:pPr>
                        <a:defRPr sz="1200" b="0">
                          <a:latin typeface="Calibri"/>
                        </a:defRPr>
                      </a:pPr>
                      <a:r>
                        <a:t>Repository-level context</a:t>
                      </a:r>
                    </a:p>
                  </a:txBody>
                  <a:tcPr/>
                </a:tc>
                <a:tc>
                  <a:txBody>
                    <a:bodyPr/>
                    <a:lstStyle/>
                    <a:p>
                      <a:pPr>
                        <a:defRPr sz="1200" b="0">
                          <a:latin typeface="Calibri"/>
                        </a:defRPr>
                      </a:pPr>
                      <a:r>
                        <a:t>Context-length limits</a:t>
                      </a:r>
                    </a:p>
                  </a:txBody>
                  <a:tcPr/>
                </a:tc>
                <a:extLst>
                  <a:ext uri="{0D108BD9-81ED-4DB2-BD59-A6C34878D82A}">
                    <a16:rowId xmlns:a16="http://schemas.microsoft.com/office/drawing/2014/main" val="10007"/>
                  </a:ext>
                </a:extLst>
              </a:tr>
              <a:tr h="473523">
                <a:tc>
                  <a:txBody>
                    <a:bodyPr/>
                    <a:lstStyle/>
                    <a:p>
                      <a:pPr>
                        <a:defRPr sz="1200" b="0">
                          <a:latin typeface="Calibri"/>
                        </a:defRPr>
                      </a:pPr>
                      <a:r>
                        <a:t>GPTVD</a:t>
                      </a:r>
                    </a:p>
                  </a:txBody>
                  <a:tcPr/>
                </a:tc>
                <a:tc>
                  <a:txBody>
                    <a:bodyPr/>
                    <a:lstStyle/>
                    <a:p>
                      <a:pPr>
                        <a:defRPr sz="1200" b="0">
                          <a:latin typeface="Calibri"/>
                        </a:defRPr>
                      </a:pPr>
                      <a:r>
                        <a:t>Chen et al. (2026)</a:t>
                      </a:r>
                    </a:p>
                  </a:txBody>
                  <a:tcPr/>
                </a:tc>
                <a:tc>
                  <a:txBody>
                    <a:bodyPr/>
                    <a:lstStyle/>
                    <a:p>
                      <a:pPr>
                        <a:defRPr sz="1200" b="0">
                          <a:latin typeface="Calibri"/>
                        </a:defRPr>
                      </a:pPr>
                      <a:r>
                        <a:t>Static slicing + CoT</a:t>
                      </a:r>
                    </a:p>
                  </a:txBody>
                  <a:tcPr/>
                </a:tc>
                <a:tc>
                  <a:txBody>
                    <a:bodyPr/>
                    <a:lstStyle/>
                    <a:p>
                      <a:pPr>
                        <a:defRPr sz="1200" b="0">
                          <a:latin typeface="Calibri"/>
                        </a:defRPr>
                      </a:pPr>
                      <a:r>
                        <a:rPr dirty="0"/>
                        <a:t>Limited dataset, scalability</a:t>
                      </a:r>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2235208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46760" y="1749287"/>
            <a:ext cx="10698480" cy="3539430"/>
          </a:xfrm>
          <a:prstGeom prst="rect">
            <a:avLst/>
          </a:prstGeom>
          <a:noFill/>
        </p:spPr>
        <p:txBody>
          <a:bodyPr wrap="square">
            <a:spAutoFit/>
          </a:bodyPr>
          <a:lstStyle/>
          <a:p>
            <a:r>
              <a:rPr lang="en-US" sz="2800" dirty="0"/>
              <a:t>▸  Gap 1: No Domain-Specific Risk Prioritization</a:t>
            </a:r>
          </a:p>
          <a:p>
            <a:r>
              <a:rPr lang="en-US" sz="2400" dirty="0"/>
              <a:t>    ◦  Literature focuses on detection accuracy alone — all CWEs treated equally</a:t>
            </a:r>
          </a:p>
          <a:p>
            <a:r>
              <a:rPr lang="en-US" sz="2400" dirty="0"/>
              <a:t>    ◦  A buffer overflow in an EHR system ≠ a buffer overflow in a game engine</a:t>
            </a:r>
          </a:p>
          <a:p>
            <a:r>
              <a:rPr lang="en-US" sz="2400" dirty="0"/>
              <a:t>    ◦  No framework translates detection results into healthcare-relevant risk signals</a:t>
            </a:r>
          </a:p>
          <a:p>
            <a:endParaRPr lang="en-US" sz="2400" dirty="0"/>
          </a:p>
          <a:p>
            <a:r>
              <a:rPr lang="en-US" sz="2800" dirty="0"/>
              <a:t>▸  Gap 2: Limited Healthcare-Oriented Security Resources</a:t>
            </a:r>
          </a:p>
          <a:p>
            <a:r>
              <a:rPr lang="en-US" sz="2400" dirty="0"/>
              <a:t>    ◦  Privacy-aware vulnerability resources for healthcare are scarce</a:t>
            </a:r>
          </a:p>
          <a:p>
            <a:r>
              <a:rPr lang="en-US" sz="2400" dirty="0"/>
              <a:t>    ◦  Missing link: mapping technical CWE findings to patient-data and compliance risks</a:t>
            </a:r>
          </a:p>
        </p:txBody>
      </p:sp>
      <p:sp>
        <p:nvSpPr>
          <p:cNvPr id="5" name="Title 4">
            <a:extLst>
              <a:ext uri="{FF2B5EF4-FFF2-40B4-BE49-F238E27FC236}">
                <a16:creationId xmlns:a16="http://schemas.microsoft.com/office/drawing/2014/main" id="{8502C412-00CB-657E-E885-D6D72CC6566B}"/>
              </a:ext>
            </a:extLst>
          </p:cNvPr>
          <p:cNvSpPr>
            <a:spLocks noGrp="1"/>
          </p:cNvSpPr>
          <p:nvPr>
            <p:ph type="title"/>
          </p:nvPr>
        </p:nvSpPr>
        <p:spPr>
          <a:xfrm>
            <a:off x="1248637" y="757654"/>
            <a:ext cx="9247085" cy="421500"/>
          </a:xfrm>
        </p:spPr>
        <p:txBody>
          <a:bodyPr/>
          <a:lstStyle/>
          <a:p>
            <a:r>
              <a:rPr lang="en-US" dirty="0"/>
              <a:t>Three Key Research Gaps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926080"/>
            <a:ext cx="12191695" cy="54864"/>
          </a:xfrm>
          <a:prstGeom prst="rect">
            <a:avLst/>
          </a:prstGeom>
          <a:solidFill>
            <a:srgbClr val="A41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571646" y="1645920"/>
            <a:ext cx="1018227" cy="1077218"/>
          </a:xfrm>
          <a:prstGeom prst="rect">
            <a:avLst/>
          </a:prstGeom>
          <a:noFill/>
        </p:spPr>
        <p:txBody>
          <a:bodyPr wrap="none">
            <a:spAutoFit/>
          </a:bodyPr>
          <a:lstStyle/>
          <a:p>
            <a:pPr algn="ctr"/>
            <a:r>
              <a:rPr sz="6400" b="1" dirty="0">
                <a:solidFill>
                  <a:srgbClr val="A4123F"/>
                </a:solidFill>
                <a:latin typeface="Calibri"/>
              </a:rPr>
              <a:t>03</a:t>
            </a:r>
          </a:p>
        </p:txBody>
      </p:sp>
      <p:sp>
        <p:nvSpPr>
          <p:cNvPr id="4" name="TextBox 3"/>
          <p:cNvSpPr txBox="1"/>
          <p:nvPr/>
        </p:nvSpPr>
        <p:spPr>
          <a:xfrm>
            <a:off x="4005993" y="3200400"/>
            <a:ext cx="4149534" cy="584775"/>
          </a:xfrm>
          <a:prstGeom prst="rect">
            <a:avLst/>
          </a:prstGeom>
          <a:noFill/>
        </p:spPr>
        <p:txBody>
          <a:bodyPr wrap="none">
            <a:spAutoFit/>
          </a:bodyPr>
          <a:lstStyle/>
          <a:p>
            <a:pPr algn="ctr"/>
            <a:r>
              <a:rPr sz="3200" b="1" dirty="0">
                <a:latin typeface="Calibri"/>
              </a:rPr>
              <a:t>Novelty / Problem Statement</a:t>
            </a:r>
          </a:p>
        </p:txBody>
      </p:sp>
      <p:sp>
        <p:nvSpPr>
          <p:cNvPr id="8" name="Rectangle 7">
            <a:extLst>
              <a:ext uri="{FF2B5EF4-FFF2-40B4-BE49-F238E27FC236}">
                <a16:creationId xmlns:a16="http://schemas.microsoft.com/office/drawing/2014/main" id="{17165227-9F30-9245-CA1E-CEBEE1CD25AF}"/>
              </a:ext>
            </a:extLst>
          </p:cNvPr>
          <p:cNvSpPr/>
          <p:nvPr/>
        </p:nvSpPr>
        <p:spPr>
          <a:xfrm>
            <a:off x="508000" y="295564"/>
            <a:ext cx="11222182" cy="14962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46760" y="1749287"/>
            <a:ext cx="10698480" cy="4401205"/>
          </a:xfrm>
          <a:prstGeom prst="rect">
            <a:avLst/>
          </a:prstGeom>
          <a:noFill/>
        </p:spPr>
        <p:txBody>
          <a:bodyPr wrap="square">
            <a:spAutoFit/>
          </a:bodyPr>
          <a:lstStyle/>
          <a:p>
            <a:r>
              <a:rPr lang="en-US" sz="2000" dirty="0">
                <a:latin typeface="Calibri"/>
              </a:rPr>
              <a:t>▸  Source code vulnerability detection in C/C++ programs using fine-tuned lightweight LLMs</a:t>
            </a:r>
          </a:p>
          <a:p>
            <a:endParaRPr lang="en-US" sz="2000" dirty="0">
              <a:latin typeface="Calibri"/>
            </a:endParaRPr>
          </a:p>
          <a:p>
            <a:r>
              <a:rPr lang="en-US" sz="2000" dirty="0">
                <a:latin typeface="Calibri"/>
              </a:rPr>
              <a:t>▸  Given a code sample, determine whether it contains vulnerability-relevant patterns</a:t>
            </a:r>
          </a:p>
          <a:p>
            <a:r>
              <a:rPr lang="en-US" sz="2000" dirty="0">
                <a:latin typeface="Calibri"/>
              </a:rPr>
              <a:t>◦  Classify into one of 118 CWE categories</a:t>
            </a:r>
          </a:p>
          <a:p>
            <a:endParaRPr lang="en-US" sz="2000" dirty="0">
              <a:latin typeface="Calibri"/>
            </a:endParaRPr>
          </a:p>
          <a:p>
            <a:r>
              <a:rPr lang="en-US" sz="2000" dirty="0">
                <a:latin typeface="Calibri"/>
              </a:rPr>
              <a:t>▸  Additionally, prioritize findings in healthcare contexts where defects may impact:</a:t>
            </a:r>
          </a:p>
          <a:p>
            <a:pPr marL="800100" lvl="1" indent="-342900">
              <a:buFont typeface="Arial" panose="020B0604020202020204" pitchFamily="34" charset="0"/>
              <a:buChar char="•"/>
            </a:pPr>
            <a:r>
              <a:rPr lang="en-US" sz="2000" dirty="0">
                <a:latin typeface="Calibri"/>
              </a:rPr>
              <a:t>Patient data confidentiality and integrity</a:t>
            </a:r>
          </a:p>
          <a:p>
            <a:pPr marL="800100" lvl="1" indent="-342900">
              <a:buFont typeface="Arial" panose="020B0604020202020204" pitchFamily="34" charset="0"/>
              <a:buChar char="•"/>
            </a:pPr>
            <a:r>
              <a:rPr lang="en-US" sz="2000" dirty="0">
                <a:latin typeface="Calibri"/>
              </a:rPr>
              <a:t>Service continuity and system trust</a:t>
            </a:r>
          </a:p>
          <a:p>
            <a:pPr marL="800100" lvl="1" indent="-342900">
              <a:buFont typeface="Arial" panose="020B0604020202020204" pitchFamily="34" charset="0"/>
              <a:buChar char="•"/>
            </a:pPr>
            <a:r>
              <a:rPr lang="en-US" sz="2000" dirty="0">
                <a:latin typeface="Calibri"/>
              </a:rPr>
              <a:t>Regulatory compliance</a:t>
            </a:r>
          </a:p>
          <a:p>
            <a:endParaRPr lang="en-US" sz="2000" dirty="0">
              <a:latin typeface="Calibri"/>
            </a:endParaRPr>
          </a:p>
          <a:p>
            <a:r>
              <a:rPr lang="en-US" sz="2000" dirty="0">
                <a:latin typeface="Calibri"/>
              </a:rPr>
              <a:t>▸  Three key challenges:</a:t>
            </a:r>
          </a:p>
          <a:p>
            <a:pPr marL="457200" indent="-457200">
              <a:buFont typeface="+mj-lt"/>
              <a:buAutoNum type="alphaLcParenR"/>
            </a:pPr>
            <a:r>
              <a:rPr lang="en-US" sz="2000" dirty="0">
                <a:latin typeface="Calibri"/>
              </a:rPr>
              <a:t>Vulnerable vs. safe code may differ in only minor semantic details</a:t>
            </a:r>
          </a:p>
          <a:p>
            <a:pPr marL="457200" indent="-457200">
              <a:buFont typeface="+mj-lt"/>
              <a:buAutoNum type="alphaLcParenR"/>
            </a:pPr>
            <a:r>
              <a:rPr lang="en-US" sz="2000" dirty="0">
                <a:latin typeface="Calibri"/>
              </a:rPr>
              <a:t>118 CWE categories with uneven distributions (1,500 vs. 5 samples)</a:t>
            </a:r>
          </a:p>
          <a:p>
            <a:pPr marL="457200" indent="-457200">
              <a:buFont typeface="+mj-lt"/>
              <a:buAutoNum type="alphaLcParenR"/>
            </a:pPr>
            <a:r>
              <a:rPr lang="en-US" sz="2000" dirty="0">
                <a:latin typeface="Calibri"/>
              </a:rPr>
              <a:t>High-performing models must be practical on consumer hardware</a:t>
            </a:r>
          </a:p>
        </p:txBody>
      </p:sp>
      <p:sp>
        <p:nvSpPr>
          <p:cNvPr id="5" name="Title 4">
            <a:extLst>
              <a:ext uri="{FF2B5EF4-FFF2-40B4-BE49-F238E27FC236}">
                <a16:creationId xmlns:a16="http://schemas.microsoft.com/office/drawing/2014/main" id="{8502C412-00CB-657E-E885-D6D72CC6566B}"/>
              </a:ext>
            </a:extLst>
          </p:cNvPr>
          <p:cNvSpPr>
            <a:spLocks noGrp="1"/>
          </p:cNvSpPr>
          <p:nvPr>
            <p:ph type="title"/>
          </p:nvPr>
        </p:nvSpPr>
        <p:spPr>
          <a:xfrm>
            <a:off x="1248637" y="757654"/>
            <a:ext cx="9247085" cy="421500"/>
          </a:xfrm>
        </p:spPr>
        <p:txBody>
          <a:bodyPr/>
          <a:lstStyle/>
          <a:p>
            <a:r>
              <a:rPr lang="en-US" dirty="0"/>
              <a:t>Problem Statement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46760" y="1749287"/>
            <a:ext cx="10698480" cy="3600986"/>
          </a:xfrm>
          <a:prstGeom prst="rect">
            <a:avLst/>
          </a:prstGeom>
          <a:noFill/>
        </p:spPr>
        <p:txBody>
          <a:bodyPr wrap="square">
            <a:spAutoFit/>
          </a:bodyPr>
          <a:lstStyle/>
          <a:p>
            <a:r>
              <a:rPr lang="en-US" sz="2400" dirty="0"/>
              <a:t>▸  Contribution 1: Healthcare-Oriented Risk Prioritization Pipeline</a:t>
            </a:r>
          </a:p>
          <a:p>
            <a:pPr marL="800100" lvl="1" indent="-342900">
              <a:buFont typeface="Arial" panose="020B0604020202020204" pitchFamily="34" charset="0"/>
              <a:buChar char="•"/>
            </a:pPr>
            <a:r>
              <a:rPr lang="en-US" sz="2000" dirty="0"/>
              <a:t>    Three-stage post-analysis pipeline: CWE → LINDDUN threat types → Policy control domains → Weighted risk score</a:t>
            </a:r>
          </a:p>
          <a:p>
            <a:pPr marL="800100" lvl="1" indent="-342900">
              <a:buFont typeface="Arial" panose="020B0604020202020204" pitchFamily="34" charset="0"/>
              <a:buChar char="•"/>
            </a:pPr>
            <a:r>
              <a:rPr lang="en-US" sz="2000" dirty="0"/>
              <a:t>    Produces ordinal priority levels (Critical / High / Medium / Low) for remediation</a:t>
            </a:r>
          </a:p>
          <a:p>
            <a:pPr marL="800100" lvl="1" indent="-342900">
              <a:buFont typeface="Arial" panose="020B0604020202020204" pitchFamily="34" charset="0"/>
              <a:buChar char="•"/>
            </a:pPr>
            <a:r>
              <a:rPr lang="en-US" sz="2000" dirty="0"/>
              <a:t>    Transforms raw CWE predictions into actionable, healthcare-relevant risk signals</a:t>
            </a:r>
          </a:p>
          <a:p>
            <a:endParaRPr lang="en-US" sz="2000" dirty="0"/>
          </a:p>
          <a:p>
            <a:r>
              <a:rPr lang="en-US" sz="2400" dirty="0"/>
              <a:t>▸  Contribution 2: Lightweight, Practical CWE Classification and Analysis</a:t>
            </a:r>
          </a:p>
          <a:p>
            <a:pPr marL="800100" lvl="1" indent="-342900">
              <a:buFont typeface="Arial" panose="020B0604020202020204" pitchFamily="34" charset="0"/>
              <a:buChar char="•"/>
            </a:pPr>
            <a:r>
              <a:rPr lang="en-US" sz="2000" dirty="0"/>
              <a:t>    Fine-tuned models (35M–125M params) run on consumer-grade GPU</a:t>
            </a:r>
          </a:p>
          <a:p>
            <a:pPr marL="800100" lvl="1" indent="-342900">
              <a:buFont typeface="Arial" panose="020B0604020202020204" pitchFamily="34" charset="0"/>
              <a:buChar char="•"/>
            </a:pPr>
            <a:r>
              <a:rPr lang="en-US" sz="2000" dirty="0"/>
              <a:t>    Quick inference — viable for CI/CD, IDE plugins, real-time code review</a:t>
            </a:r>
          </a:p>
          <a:p>
            <a:pPr marL="800100" lvl="1" indent="-342900">
              <a:buFont typeface="Arial" panose="020B0604020202020204" pitchFamily="34" charset="0"/>
              <a:buChar char="•"/>
            </a:pPr>
            <a:r>
              <a:rPr lang="en-US" sz="2000" dirty="0"/>
              <a:t>    118 CWE categories classified (multi-class, not just binary detection)</a:t>
            </a:r>
          </a:p>
          <a:p>
            <a:endParaRPr lang="en-US" sz="2000" dirty="0"/>
          </a:p>
        </p:txBody>
      </p:sp>
      <p:sp>
        <p:nvSpPr>
          <p:cNvPr id="5" name="Title 4">
            <a:extLst>
              <a:ext uri="{FF2B5EF4-FFF2-40B4-BE49-F238E27FC236}">
                <a16:creationId xmlns:a16="http://schemas.microsoft.com/office/drawing/2014/main" id="{8502C412-00CB-657E-E885-D6D72CC6566B}"/>
              </a:ext>
            </a:extLst>
          </p:cNvPr>
          <p:cNvSpPr>
            <a:spLocks noGrp="1"/>
          </p:cNvSpPr>
          <p:nvPr>
            <p:ph type="title"/>
          </p:nvPr>
        </p:nvSpPr>
        <p:spPr>
          <a:xfrm>
            <a:off x="1248637" y="757654"/>
            <a:ext cx="9247085" cy="421500"/>
          </a:xfrm>
        </p:spPr>
        <p:txBody>
          <a:bodyPr/>
          <a:lstStyle/>
          <a:p>
            <a:r>
              <a:rPr lang="en-US" dirty="0"/>
              <a:t>Novelty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926080"/>
            <a:ext cx="12191695" cy="54864"/>
          </a:xfrm>
          <a:prstGeom prst="rect">
            <a:avLst/>
          </a:prstGeom>
          <a:solidFill>
            <a:srgbClr val="A41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571646" y="1645920"/>
            <a:ext cx="1018227" cy="1077218"/>
          </a:xfrm>
          <a:prstGeom prst="rect">
            <a:avLst/>
          </a:prstGeom>
          <a:noFill/>
        </p:spPr>
        <p:txBody>
          <a:bodyPr wrap="none">
            <a:spAutoFit/>
          </a:bodyPr>
          <a:lstStyle/>
          <a:p>
            <a:pPr algn="ctr"/>
            <a:r>
              <a:rPr sz="6400" b="1" dirty="0">
                <a:solidFill>
                  <a:srgbClr val="A4123F"/>
                </a:solidFill>
                <a:latin typeface="Calibri"/>
              </a:rPr>
              <a:t>04</a:t>
            </a:r>
          </a:p>
        </p:txBody>
      </p:sp>
      <p:sp>
        <p:nvSpPr>
          <p:cNvPr id="4" name="TextBox 3"/>
          <p:cNvSpPr txBox="1"/>
          <p:nvPr/>
        </p:nvSpPr>
        <p:spPr>
          <a:xfrm>
            <a:off x="4005993" y="3200400"/>
            <a:ext cx="4149534" cy="584775"/>
          </a:xfrm>
          <a:prstGeom prst="rect">
            <a:avLst/>
          </a:prstGeom>
          <a:noFill/>
        </p:spPr>
        <p:txBody>
          <a:bodyPr wrap="none">
            <a:spAutoFit/>
          </a:bodyPr>
          <a:lstStyle/>
          <a:p>
            <a:pPr algn="ctr"/>
            <a:r>
              <a:rPr sz="3200" b="1" dirty="0">
                <a:latin typeface="Calibri"/>
              </a:rPr>
              <a:t>Methodology</a:t>
            </a:r>
          </a:p>
        </p:txBody>
      </p:sp>
      <p:sp>
        <p:nvSpPr>
          <p:cNvPr id="8" name="Rectangle 7">
            <a:extLst>
              <a:ext uri="{FF2B5EF4-FFF2-40B4-BE49-F238E27FC236}">
                <a16:creationId xmlns:a16="http://schemas.microsoft.com/office/drawing/2014/main" id="{17165227-9F30-9245-CA1E-CEBEE1CD25AF}"/>
              </a:ext>
            </a:extLst>
          </p:cNvPr>
          <p:cNvSpPr/>
          <p:nvPr/>
        </p:nvSpPr>
        <p:spPr>
          <a:xfrm>
            <a:off x="508000" y="295564"/>
            <a:ext cx="11222182" cy="14962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46760" y="1749287"/>
            <a:ext cx="10698480" cy="3249608"/>
          </a:xfrm>
          <a:prstGeom prst="rect">
            <a:avLst/>
          </a:prstGeom>
          <a:noFill/>
        </p:spPr>
        <p:txBody>
          <a:bodyPr wrap="square">
            <a:spAutoFit/>
          </a:bodyPr>
          <a:lstStyle/>
          <a:p>
            <a:r>
              <a:rPr lang="en-US" sz="2540" dirty="0">
                <a:latin typeface="Calibri"/>
              </a:rPr>
              <a:t>▸  NIST Juliet Test Suite for C/C++ v1.3</a:t>
            </a:r>
          </a:p>
          <a:p>
            <a:r>
              <a:rPr lang="en-US" sz="2159" dirty="0">
                <a:latin typeface="Calibri"/>
              </a:rPr>
              <a:t>◦  105,183 source code samples across 118 CWE categories</a:t>
            </a:r>
          </a:p>
          <a:p>
            <a:r>
              <a:rPr lang="en-US" sz="2159" dirty="0">
                <a:latin typeface="Calibri"/>
              </a:rPr>
              <a:t>◦  Training: 82,736 samples (1,323 templates)</a:t>
            </a:r>
          </a:p>
          <a:p>
            <a:r>
              <a:rPr lang="en-US" sz="2159" dirty="0">
                <a:latin typeface="Calibri"/>
              </a:rPr>
              <a:t>◦  Test: 22,447 samples (366 templates, 87 CWEs)</a:t>
            </a:r>
          </a:p>
          <a:p>
            <a:r>
              <a:rPr lang="en-US" sz="2159" dirty="0">
                <a:latin typeface="Calibri"/>
              </a:rPr>
              <a:t>◦  Zero template overlap (80/20 split, seed=42)</a:t>
            </a:r>
          </a:p>
          <a:p>
            <a:endParaRPr lang="en-US" sz="2159" dirty="0">
              <a:latin typeface="Calibri"/>
            </a:endParaRPr>
          </a:p>
          <a:p>
            <a:r>
              <a:rPr lang="en-US" sz="2540" dirty="0">
                <a:latin typeface="Calibri"/>
              </a:rPr>
              <a:t>▸  4-Stage Preprocessing Pipeline:</a:t>
            </a:r>
          </a:p>
          <a:p>
            <a:r>
              <a:rPr lang="en-US" sz="2159" dirty="0">
                <a:latin typeface="Calibri"/>
              </a:rPr>
              <a:t>◦  Stage 1: Header removal (template-generated comment blocks)</a:t>
            </a:r>
          </a:p>
          <a:p>
            <a:r>
              <a:rPr lang="en-US" sz="2159" dirty="0">
                <a:latin typeface="Calibri"/>
              </a:rPr>
              <a:t>◦  Stage 2: Comment stripping (state machine, preserves string literals)</a:t>
            </a:r>
          </a:p>
          <a:p>
            <a:r>
              <a:rPr lang="en-US" sz="2159" dirty="0">
                <a:latin typeface="Calibri"/>
              </a:rPr>
              <a:t>◦  Stage 3: Guard removal (#ifndef OMITBAD, #ifndef OMITGOOD, etc.)</a:t>
            </a:r>
          </a:p>
          <a:p>
            <a:r>
              <a:rPr lang="en-US" sz="2159" dirty="0">
                <a:latin typeface="Calibri"/>
              </a:rPr>
              <a:t>◦  Stage 4: Whitespace normalization (compact representation)</a:t>
            </a:r>
          </a:p>
        </p:txBody>
      </p:sp>
      <p:sp>
        <p:nvSpPr>
          <p:cNvPr id="5" name="Title 4">
            <a:extLst>
              <a:ext uri="{FF2B5EF4-FFF2-40B4-BE49-F238E27FC236}">
                <a16:creationId xmlns:a16="http://schemas.microsoft.com/office/drawing/2014/main" id="{8502C412-00CB-657E-E885-D6D72CC6566B}"/>
              </a:ext>
            </a:extLst>
          </p:cNvPr>
          <p:cNvSpPr>
            <a:spLocks noGrp="1"/>
          </p:cNvSpPr>
          <p:nvPr>
            <p:ph type="title"/>
          </p:nvPr>
        </p:nvSpPr>
        <p:spPr>
          <a:xfrm>
            <a:off x="1248637" y="757654"/>
            <a:ext cx="9247085" cy="421500"/>
          </a:xfrm>
        </p:spPr>
        <p:txBody>
          <a:bodyPr/>
          <a:lstStyle/>
          <a:p>
            <a:r>
              <a:rPr lang="en-US" dirty="0"/>
              <a:t>Dataset &amp; Preprocessing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502C412-00CB-657E-E885-D6D72CC6566B}"/>
              </a:ext>
            </a:extLst>
          </p:cNvPr>
          <p:cNvSpPr>
            <a:spLocks noGrp="1"/>
          </p:cNvSpPr>
          <p:nvPr>
            <p:ph type="title"/>
          </p:nvPr>
        </p:nvSpPr>
        <p:spPr>
          <a:xfrm>
            <a:off x="1248637" y="757654"/>
            <a:ext cx="9247085" cy="421500"/>
          </a:xfrm>
        </p:spPr>
        <p:txBody>
          <a:bodyPr/>
          <a:lstStyle/>
          <a:p>
            <a:r>
              <a:rPr lang="en-US" dirty="0"/>
              <a:t>Models Evaluated</a:t>
            </a:r>
          </a:p>
        </p:txBody>
      </p:sp>
      <p:graphicFrame>
        <p:nvGraphicFramePr>
          <p:cNvPr id="6" name="Table 5"/>
          <p:cNvGraphicFramePr>
            <a:graphicFrameLocks noGrp="1"/>
          </p:cNvGraphicFramePr>
          <p:nvPr/>
        </p:nvGraphicFramePr>
        <p:xfrm>
          <a:off x="1295400" y="1810978"/>
          <a:ext cx="9601200" cy="4000000"/>
        </p:xfrm>
        <a:graphic>
          <a:graphicData uri="http://schemas.openxmlformats.org/drawingml/2006/table">
            <a:tbl>
              <a:tblPr firstRow="1" bandRow="1">
                <a:tableStyleId>{5C22544A-7EE6-4342-B048-85BDC9FD1C3A}</a:tableStyleId>
              </a:tblPr>
              <a:tblGrid>
                <a:gridCol w="192024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gridCol w="1920240">
                  <a:extLst>
                    <a:ext uri="{9D8B030D-6E8A-4147-A177-3AD203B41FA5}">
                      <a16:colId xmlns:a16="http://schemas.microsoft.com/office/drawing/2014/main" val="20004"/>
                    </a:ext>
                  </a:extLst>
                </a:gridCol>
              </a:tblGrid>
              <a:tr h="500000">
                <a:tc>
                  <a:txBody>
                    <a:bodyPr/>
                    <a:lstStyle/>
                    <a:p>
                      <a:pPr>
                        <a:defRPr sz="1400" b="1">
                          <a:solidFill>
                            <a:srgbClr val="FFFFFF"/>
                          </a:solidFill>
                          <a:latin typeface="Calibri"/>
                        </a:defRPr>
                      </a:pPr>
                      <a:r>
                        <a:t>Model</a:t>
                      </a:r>
                    </a:p>
                  </a:txBody>
                  <a:tcPr>
                    <a:solidFill>
                      <a:srgbClr val="A4123F"/>
                    </a:solidFill>
                  </a:tcPr>
                </a:tc>
                <a:tc>
                  <a:txBody>
                    <a:bodyPr/>
                    <a:lstStyle/>
                    <a:p>
                      <a:pPr>
                        <a:defRPr sz="1400" b="1">
                          <a:solidFill>
                            <a:srgbClr val="FFFFFF"/>
                          </a:solidFill>
                          <a:latin typeface="Calibri"/>
                        </a:defRPr>
                      </a:pPr>
                      <a:r>
                        <a:t>Paradigm</a:t>
                      </a:r>
                    </a:p>
                  </a:txBody>
                  <a:tcPr>
                    <a:solidFill>
                      <a:srgbClr val="A4123F"/>
                    </a:solidFill>
                  </a:tcPr>
                </a:tc>
                <a:tc>
                  <a:txBody>
                    <a:bodyPr/>
                    <a:lstStyle/>
                    <a:p>
                      <a:pPr>
                        <a:defRPr sz="1400" b="1">
                          <a:solidFill>
                            <a:srgbClr val="FFFFFF"/>
                          </a:solidFill>
                          <a:latin typeface="Calibri"/>
                        </a:defRPr>
                      </a:pPr>
                      <a:r>
                        <a:t>Params</a:t>
                      </a:r>
                    </a:p>
                  </a:txBody>
                  <a:tcPr>
                    <a:solidFill>
                      <a:srgbClr val="A4123F"/>
                    </a:solidFill>
                  </a:tcPr>
                </a:tc>
                <a:tc>
                  <a:txBody>
                    <a:bodyPr/>
                    <a:lstStyle/>
                    <a:p>
                      <a:pPr>
                        <a:defRPr sz="1400" b="1">
                          <a:solidFill>
                            <a:srgbClr val="FFFFFF"/>
                          </a:solidFill>
                          <a:latin typeface="Calibri"/>
                        </a:defRPr>
                      </a:pPr>
                      <a:r>
                        <a:t>Size (MB)</a:t>
                      </a:r>
                    </a:p>
                  </a:txBody>
                  <a:tcPr>
                    <a:solidFill>
                      <a:srgbClr val="A4123F"/>
                    </a:solidFill>
                  </a:tcPr>
                </a:tc>
                <a:tc>
                  <a:txBody>
                    <a:bodyPr/>
                    <a:lstStyle/>
                    <a:p>
                      <a:pPr>
                        <a:defRPr sz="1400" b="1">
                          <a:solidFill>
                            <a:srgbClr val="FFFFFF"/>
                          </a:solidFill>
                          <a:latin typeface="Calibri"/>
                        </a:defRPr>
                      </a:pPr>
                      <a:r>
                        <a:t>Key Details</a:t>
                      </a:r>
                    </a:p>
                  </a:txBody>
                  <a:tcPr>
                    <a:solidFill>
                      <a:srgbClr val="A4123F"/>
                    </a:solidFill>
                  </a:tcPr>
                </a:tc>
                <a:extLst>
                  <a:ext uri="{0D108BD9-81ED-4DB2-BD59-A6C34878D82A}">
                    <a16:rowId xmlns:a16="http://schemas.microsoft.com/office/drawing/2014/main" val="10000"/>
                  </a:ext>
                </a:extLst>
              </a:tr>
              <a:tr h="500000">
                <a:tc>
                  <a:txBody>
                    <a:bodyPr/>
                    <a:lstStyle/>
                    <a:p>
                      <a:pPr>
                        <a:defRPr sz="1200" b="0">
                          <a:latin typeface="Calibri"/>
                        </a:defRPr>
                      </a:pPr>
                      <a:r>
                        <a:t>CodeT5-Small</a:t>
                      </a:r>
                    </a:p>
                  </a:txBody>
                  <a:tcPr/>
                </a:tc>
                <a:tc>
                  <a:txBody>
                    <a:bodyPr/>
                    <a:lstStyle/>
                    <a:p>
                      <a:pPr>
                        <a:defRPr sz="1200" b="0">
                          <a:latin typeface="Calibri"/>
                        </a:defRPr>
                      </a:pPr>
                      <a:r>
                        <a:t>Encoder FT</a:t>
                      </a:r>
                    </a:p>
                  </a:txBody>
                  <a:tcPr/>
                </a:tc>
                <a:tc>
                  <a:txBody>
                    <a:bodyPr/>
                    <a:lstStyle/>
                    <a:p>
                      <a:pPr>
                        <a:defRPr sz="1200" b="0">
                          <a:latin typeface="Calibri"/>
                        </a:defRPr>
                      </a:pPr>
                      <a:r>
                        <a:t>35.4M</a:t>
                      </a:r>
                    </a:p>
                  </a:txBody>
                  <a:tcPr/>
                </a:tc>
                <a:tc>
                  <a:txBody>
                    <a:bodyPr/>
                    <a:lstStyle/>
                    <a:p>
                      <a:pPr>
                        <a:defRPr sz="1200" b="0">
                          <a:latin typeface="Calibri"/>
                        </a:defRPr>
                      </a:pPr>
                      <a:r>
                        <a:t>405</a:t>
                      </a:r>
                    </a:p>
                  </a:txBody>
                  <a:tcPr/>
                </a:tc>
                <a:tc>
                  <a:txBody>
                    <a:bodyPr/>
                    <a:lstStyle/>
                    <a:p>
                      <a:pPr>
                        <a:defRPr sz="1200" b="0">
                          <a:latin typeface="Calibri"/>
                        </a:defRPr>
                      </a:pPr>
                      <a:r>
                        <a:t>Full fine-tuning, FP16</a:t>
                      </a:r>
                    </a:p>
                  </a:txBody>
                  <a:tcPr/>
                </a:tc>
                <a:extLst>
                  <a:ext uri="{0D108BD9-81ED-4DB2-BD59-A6C34878D82A}">
                    <a16:rowId xmlns:a16="http://schemas.microsoft.com/office/drawing/2014/main" val="10001"/>
                  </a:ext>
                </a:extLst>
              </a:tr>
              <a:tr h="500000">
                <a:tc>
                  <a:txBody>
                    <a:bodyPr/>
                    <a:lstStyle/>
                    <a:p>
                      <a:pPr>
                        <a:defRPr sz="1200" b="0">
                          <a:latin typeface="Calibri"/>
                        </a:defRPr>
                      </a:pPr>
                      <a:r>
                        <a:t>CodeT5-Base</a:t>
                      </a:r>
                    </a:p>
                  </a:txBody>
                  <a:tcPr/>
                </a:tc>
                <a:tc>
                  <a:txBody>
                    <a:bodyPr/>
                    <a:lstStyle/>
                    <a:p>
                      <a:pPr>
                        <a:defRPr sz="1200" b="0">
                          <a:latin typeface="Calibri"/>
                        </a:defRPr>
                      </a:pPr>
                      <a:r>
                        <a:t>Encoder FT</a:t>
                      </a:r>
                    </a:p>
                  </a:txBody>
                  <a:tcPr/>
                </a:tc>
                <a:tc>
                  <a:txBody>
                    <a:bodyPr/>
                    <a:lstStyle/>
                    <a:p>
                      <a:pPr>
                        <a:defRPr sz="1200" b="0">
                          <a:latin typeface="Calibri"/>
                        </a:defRPr>
                      </a:pPr>
                      <a:r>
                        <a:t>109.7M</a:t>
                      </a:r>
                    </a:p>
                  </a:txBody>
                  <a:tcPr/>
                </a:tc>
                <a:tc>
                  <a:txBody>
                    <a:bodyPr/>
                    <a:lstStyle/>
                    <a:p>
                      <a:pPr>
                        <a:defRPr sz="1200" b="0">
                          <a:latin typeface="Calibri"/>
                        </a:defRPr>
                      </a:pPr>
                      <a:r>
                        <a:t>1,256</a:t>
                      </a:r>
                    </a:p>
                  </a:txBody>
                  <a:tcPr/>
                </a:tc>
                <a:tc>
                  <a:txBody>
                    <a:bodyPr/>
                    <a:lstStyle/>
                    <a:p>
                      <a:pPr>
                        <a:defRPr sz="1200" b="0">
                          <a:latin typeface="Calibri"/>
                        </a:defRPr>
                      </a:pPr>
                      <a:r>
                        <a:t>Full fine-tuning, FP16</a:t>
                      </a:r>
                    </a:p>
                  </a:txBody>
                  <a:tcPr/>
                </a:tc>
                <a:extLst>
                  <a:ext uri="{0D108BD9-81ED-4DB2-BD59-A6C34878D82A}">
                    <a16:rowId xmlns:a16="http://schemas.microsoft.com/office/drawing/2014/main" val="10002"/>
                  </a:ext>
                </a:extLst>
              </a:tr>
              <a:tr h="500000">
                <a:tc>
                  <a:txBody>
                    <a:bodyPr/>
                    <a:lstStyle/>
                    <a:p>
                      <a:pPr>
                        <a:defRPr sz="1200" b="0">
                          <a:latin typeface="Calibri"/>
                        </a:defRPr>
                      </a:pPr>
                      <a:r>
                        <a:t>CodeBERT-Base</a:t>
                      </a:r>
                    </a:p>
                  </a:txBody>
                  <a:tcPr/>
                </a:tc>
                <a:tc>
                  <a:txBody>
                    <a:bodyPr/>
                    <a:lstStyle/>
                    <a:p>
                      <a:pPr>
                        <a:defRPr sz="1200" b="0">
                          <a:latin typeface="Calibri"/>
                        </a:defRPr>
                      </a:pPr>
                      <a:r>
                        <a:t>Encoder FT</a:t>
                      </a:r>
                    </a:p>
                  </a:txBody>
                  <a:tcPr/>
                </a:tc>
                <a:tc>
                  <a:txBody>
                    <a:bodyPr/>
                    <a:lstStyle/>
                    <a:p>
                      <a:pPr>
                        <a:defRPr sz="1200" b="0">
                          <a:latin typeface="Calibri"/>
                        </a:defRPr>
                      </a:pPr>
                      <a:r>
                        <a:t>124.7M</a:t>
                      </a:r>
                    </a:p>
                  </a:txBody>
                  <a:tcPr/>
                </a:tc>
                <a:tc>
                  <a:txBody>
                    <a:bodyPr/>
                    <a:lstStyle/>
                    <a:p>
                      <a:pPr>
                        <a:defRPr sz="1200" b="0">
                          <a:latin typeface="Calibri"/>
                        </a:defRPr>
                      </a:pPr>
                      <a:r>
                        <a:t>1,423</a:t>
                      </a:r>
                    </a:p>
                  </a:txBody>
                  <a:tcPr/>
                </a:tc>
                <a:tc>
                  <a:txBody>
                    <a:bodyPr/>
                    <a:lstStyle/>
                    <a:p>
                      <a:pPr>
                        <a:defRPr sz="1200" b="0">
                          <a:latin typeface="Calibri"/>
                        </a:defRPr>
                      </a:pPr>
                      <a:r>
                        <a:t>Full fine-tuning, FP16</a:t>
                      </a:r>
                    </a:p>
                  </a:txBody>
                  <a:tcPr/>
                </a:tc>
                <a:extLst>
                  <a:ext uri="{0D108BD9-81ED-4DB2-BD59-A6C34878D82A}">
                    <a16:rowId xmlns:a16="http://schemas.microsoft.com/office/drawing/2014/main" val="10003"/>
                  </a:ext>
                </a:extLst>
              </a:tr>
              <a:tr h="500000">
                <a:tc>
                  <a:txBody>
                    <a:bodyPr/>
                    <a:lstStyle/>
                    <a:p>
                      <a:pPr>
                        <a:defRPr sz="1200" b="0">
                          <a:latin typeface="Calibri"/>
                        </a:defRPr>
                      </a:pPr>
                      <a:r>
                        <a:t>GraphCodeBERT</a:t>
                      </a:r>
                    </a:p>
                  </a:txBody>
                  <a:tcPr/>
                </a:tc>
                <a:tc>
                  <a:txBody>
                    <a:bodyPr/>
                    <a:lstStyle/>
                    <a:p>
                      <a:pPr>
                        <a:defRPr sz="1200" b="0">
                          <a:latin typeface="Calibri"/>
                        </a:defRPr>
                      </a:pPr>
                      <a:r>
                        <a:t>Encoder FT</a:t>
                      </a:r>
                    </a:p>
                  </a:txBody>
                  <a:tcPr/>
                </a:tc>
                <a:tc>
                  <a:txBody>
                    <a:bodyPr/>
                    <a:lstStyle/>
                    <a:p>
                      <a:pPr>
                        <a:defRPr sz="1200" b="0">
                          <a:latin typeface="Calibri"/>
                        </a:defRPr>
                      </a:pPr>
                      <a:r>
                        <a:t>124.7M</a:t>
                      </a:r>
                    </a:p>
                  </a:txBody>
                  <a:tcPr/>
                </a:tc>
                <a:tc>
                  <a:txBody>
                    <a:bodyPr/>
                    <a:lstStyle/>
                    <a:p>
                      <a:pPr>
                        <a:defRPr sz="1200" b="0">
                          <a:latin typeface="Calibri"/>
                        </a:defRPr>
                      </a:pPr>
                      <a:r>
                        <a:t>1,423</a:t>
                      </a:r>
                    </a:p>
                  </a:txBody>
                  <a:tcPr/>
                </a:tc>
                <a:tc>
                  <a:txBody>
                    <a:bodyPr/>
                    <a:lstStyle/>
                    <a:p>
                      <a:pPr>
                        <a:defRPr sz="1200" b="0">
                          <a:latin typeface="Calibri"/>
                        </a:defRPr>
                      </a:pPr>
                      <a:r>
                        <a:t>Full fine-tuning, FP16</a:t>
                      </a:r>
                    </a:p>
                  </a:txBody>
                  <a:tcPr/>
                </a:tc>
                <a:extLst>
                  <a:ext uri="{0D108BD9-81ED-4DB2-BD59-A6C34878D82A}">
                    <a16:rowId xmlns:a16="http://schemas.microsoft.com/office/drawing/2014/main" val="10004"/>
                  </a:ext>
                </a:extLst>
              </a:tr>
              <a:tr h="500000">
                <a:tc>
                  <a:txBody>
                    <a:bodyPr/>
                    <a:lstStyle/>
                    <a:p>
                      <a:pPr>
                        <a:defRPr sz="1200" b="0">
                          <a:latin typeface="Calibri"/>
                        </a:defRPr>
                      </a:pPr>
                      <a:r>
                        <a:t>CodeGemma-2B</a:t>
                      </a:r>
                    </a:p>
                  </a:txBody>
                  <a:tcPr/>
                </a:tc>
                <a:tc>
                  <a:txBody>
                    <a:bodyPr/>
                    <a:lstStyle/>
                    <a:p>
                      <a:pPr>
                        <a:defRPr sz="1200" b="0">
                          <a:latin typeface="Calibri"/>
                        </a:defRPr>
                      </a:pPr>
                      <a:r>
                        <a:t>QLoRA FT</a:t>
                      </a:r>
                    </a:p>
                  </a:txBody>
                  <a:tcPr/>
                </a:tc>
                <a:tc>
                  <a:txBody>
                    <a:bodyPr/>
                    <a:lstStyle/>
                    <a:p>
                      <a:pPr>
                        <a:defRPr sz="1200" b="0">
                          <a:latin typeface="Calibri"/>
                        </a:defRPr>
                      </a:pPr>
                      <a:r>
                        <a:t>2.51B</a:t>
                      </a:r>
                    </a:p>
                  </a:txBody>
                  <a:tcPr/>
                </a:tc>
                <a:tc>
                  <a:txBody>
                    <a:bodyPr/>
                    <a:lstStyle/>
                    <a:p>
                      <a:pPr>
                        <a:defRPr sz="1200" b="0">
                          <a:latin typeface="Calibri"/>
                        </a:defRPr>
                      </a:pPr>
                      <a:r>
                        <a:t>4,677</a:t>
                      </a:r>
                    </a:p>
                  </a:txBody>
                  <a:tcPr/>
                </a:tc>
                <a:tc>
                  <a:txBody>
                    <a:bodyPr/>
                    <a:lstStyle/>
                    <a:p>
                      <a:pPr>
                        <a:defRPr sz="1200" b="0">
                          <a:latin typeface="Calibri"/>
                        </a:defRPr>
                      </a:pPr>
                      <a:r>
                        <a:t>4-bit NF4, LoRA r=16, α=32</a:t>
                      </a:r>
                    </a:p>
                  </a:txBody>
                  <a:tcPr/>
                </a:tc>
                <a:extLst>
                  <a:ext uri="{0D108BD9-81ED-4DB2-BD59-A6C34878D82A}">
                    <a16:rowId xmlns:a16="http://schemas.microsoft.com/office/drawing/2014/main" val="10005"/>
                  </a:ext>
                </a:extLst>
              </a:tr>
              <a:tr h="500000">
                <a:tc>
                  <a:txBody>
                    <a:bodyPr/>
                    <a:lstStyle/>
                    <a:p>
                      <a:pPr>
                        <a:defRPr sz="1200" b="0">
                          <a:latin typeface="Calibri"/>
                        </a:defRPr>
                      </a:pPr>
                      <a:r>
                        <a:t>CodeGemma-2B</a:t>
                      </a:r>
                    </a:p>
                  </a:txBody>
                  <a:tcPr/>
                </a:tc>
                <a:tc>
                  <a:txBody>
                    <a:bodyPr/>
                    <a:lstStyle/>
                    <a:p>
                      <a:pPr>
                        <a:defRPr sz="1200" b="0">
                          <a:latin typeface="Calibri"/>
                        </a:defRPr>
                      </a:pPr>
                      <a:r>
                        <a:t>Zero-Shot</a:t>
                      </a:r>
                    </a:p>
                  </a:txBody>
                  <a:tcPr/>
                </a:tc>
                <a:tc>
                  <a:txBody>
                    <a:bodyPr/>
                    <a:lstStyle/>
                    <a:p>
                      <a:pPr>
                        <a:defRPr sz="1200" b="0">
                          <a:latin typeface="Calibri"/>
                        </a:defRPr>
                      </a:pPr>
                      <a:r>
                        <a:t>2.51B</a:t>
                      </a:r>
                    </a:p>
                  </a:txBody>
                  <a:tcPr/>
                </a:tc>
                <a:tc>
                  <a:txBody>
                    <a:bodyPr/>
                    <a:lstStyle/>
                    <a:p>
                      <a:pPr>
                        <a:defRPr sz="1200" b="0">
                          <a:latin typeface="Calibri"/>
                        </a:defRPr>
                      </a:pPr>
                      <a:r>
                        <a:t>4,677</a:t>
                      </a:r>
                    </a:p>
                  </a:txBody>
                  <a:tcPr/>
                </a:tc>
                <a:tc>
                  <a:txBody>
                    <a:bodyPr/>
                    <a:lstStyle/>
                    <a:p>
                      <a:pPr>
                        <a:defRPr sz="1200" b="0">
                          <a:latin typeface="Calibri"/>
                        </a:defRPr>
                      </a:pPr>
                      <a:r>
                        <a:t>Beam search B=10</a:t>
                      </a:r>
                    </a:p>
                  </a:txBody>
                  <a:tcPr/>
                </a:tc>
                <a:extLst>
                  <a:ext uri="{0D108BD9-81ED-4DB2-BD59-A6C34878D82A}">
                    <a16:rowId xmlns:a16="http://schemas.microsoft.com/office/drawing/2014/main" val="10006"/>
                  </a:ext>
                </a:extLst>
              </a:tr>
              <a:tr h="500000">
                <a:tc>
                  <a:txBody>
                    <a:bodyPr/>
                    <a:lstStyle/>
                    <a:p>
                      <a:pPr>
                        <a:defRPr sz="1200" b="0">
                          <a:latin typeface="Calibri"/>
                        </a:defRPr>
                      </a:pPr>
                      <a:r>
                        <a:t>Gemma-4-E2B-IT</a:t>
                      </a:r>
                    </a:p>
                  </a:txBody>
                  <a:tcPr/>
                </a:tc>
                <a:tc>
                  <a:txBody>
                    <a:bodyPr/>
                    <a:lstStyle/>
                    <a:p>
                      <a:pPr>
                        <a:defRPr sz="1200" b="0">
                          <a:latin typeface="Calibri"/>
                        </a:defRPr>
                      </a:pPr>
                      <a:r>
                        <a:t>Zero-Shot</a:t>
                      </a:r>
                    </a:p>
                  </a:txBody>
                  <a:tcPr/>
                </a:tc>
                <a:tc>
                  <a:txBody>
                    <a:bodyPr/>
                    <a:lstStyle/>
                    <a:p>
                      <a:pPr>
                        <a:defRPr sz="1200" b="0">
                          <a:latin typeface="Calibri"/>
                        </a:defRPr>
                      </a:pPr>
                      <a:r>
                        <a:t>5.13B</a:t>
                      </a:r>
                    </a:p>
                  </a:txBody>
                  <a:tcPr/>
                </a:tc>
                <a:tc>
                  <a:txBody>
                    <a:bodyPr/>
                    <a:lstStyle/>
                    <a:p>
                      <a:pPr>
                        <a:defRPr sz="1200" b="0">
                          <a:latin typeface="Calibri"/>
                        </a:defRPr>
                      </a:pPr>
                      <a:r>
                        <a:t>9,561</a:t>
                      </a:r>
                    </a:p>
                  </a:txBody>
                  <a:tcPr/>
                </a:tc>
                <a:tc>
                  <a:txBody>
                    <a:bodyPr/>
                    <a:lstStyle/>
                    <a:p>
                      <a:pPr>
                        <a:defRPr sz="1200" b="0">
                          <a:latin typeface="Calibri"/>
                        </a:defRPr>
                      </a:pPr>
                      <a:r>
                        <a:t>Instruction-tuned, B=2</a:t>
                      </a:r>
                    </a:p>
                  </a:txBody>
                  <a:tcPr/>
                </a:tc>
                <a:extLst>
                  <a:ext uri="{0D108BD9-81ED-4DB2-BD59-A6C34878D82A}">
                    <a16:rowId xmlns:a16="http://schemas.microsoft.com/office/drawing/2014/main" val="10007"/>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46760" y="1749287"/>
            <a:ext cx="10698480" cy="4401205"/>
          </a:xfrm>
          <a:prstGeom prst="rect">
            <a:avLst/>
          </a:prstGeom>
          <a:noFill/>
        </p:spPr>
        <p:txBody>
          <a:bodyPr wrap="square">
            <a:spAutoFit/>
          </a:bodyPr>
          <a:lstStyle/>
          <a:p>
            <a:r>
              <a:rPr lang="en-US" sz="2000" dirty="0">
                <a:latin typeface="Calibri"/>
              </a:rPr>
              <a:t>▸  Classification Head: Mean pooling → Dropout → Linear → Softmax → 118-dim</a:t>
            </a:r>
          </a:p>
          <a:p>
            <a:endParaRPr lang="en-US" sz="2000" dirty="0">
              <a:latin typeface="Calibri"/>
            </a:endParaRPr>
          </a:p>
          <a:p>
            <a:r>
              <a:rPr lang="en-US" sz="2000" dirty="0">
                <a:latin typeface="Calibri"/>
              </a:rPr>
              <a:t>▸  Encoder Models:</a:t>
            </a:r>
          </a:p>
          <a:p>
            <a:pPr lvl="1"/>
            <a:r>
              <a:rPr lang="en-US" sz="2000" dirty="0">
                <a:latin typeface="Calibri"/>
              </a:rPr>
              <a:t>◦  Learning rate: 5×10⁻⁵, AdamW optimizer, batch size 8</a:t>
            </a:r>
          </a:p>
          <a:p>
            <a:pPr lvl="1"/>
            <a:r>
              <a:rPr lang="en-US" sz="2000" dirty="0">
                <a:latin typeface="Calibri"/>
              </a:rPr>
              <a:t>◦  Max sequence length: 256 tokens, 2 epochs, FP16 precision</a:t>
            </a:r>
          </a:p>
          <a:p>
            <a:pPr lvl="1"/>
            <a:r>
              <a:rPr lang="en-US" sz="2000" dirty="0">
                <a:latin typeface="Calibri"/>
              </a:rPr>
              <a:t>◦  Early stopping: patience=1</a:t>
            </a:r>
          </a:p>
          <a:p>
            <a:endParaRPr lang="en-US" sz="2000" dirty="0">
              <a:latin typeface="Calibri"/>
            </a:endParaRPr>
          </a:p>
          <a:p>
            <a:r>
              <a:rPr lang="en-US" sz="2000" dirty="0">
                <a:latin typeface="Calibri"/>
              </a:rPr>
              <a:t>▸  QLoRA (CodeGemma-2B):</a:t>
            </a:r>
          </a:p>
          <a:p>
            <a:pPr lvl="1"/>
            <a:r>
              <a:rPr lang="en-US" sz="2000" dirty="0">
                <a:latin typeface="Calibri"/>
              </a:rPr>
              <a:t>◦  Learning rate: 2×10⁻⁴, PagedAdamW 8-bit, effective batch 8</a:t>
            </a:r>
          </a:p>
          <a:p>
            <a:pPr lvl="1"/>
            <a:r>
              <a:rPr lang="en-US" sz="2000" dirty="0">
                <a:latin typeface="Calibri"/>
              </a:rPr>
              <a:t>◦  LoRA targets: q, k, v, o, gate, up, down projections</a:t>
            </a:r>
          </a:p>
          <a:p>
            <a:pPr lvl="1"/>
            <a:r>
              <a:rPr lang="en-US" sz="2000" dirty="0">
                <a:latin typeface="Calibri"/>
              </a:rPr>
              <a:t>◦  Memory: ~5.5 GB (FP16) → ~1.8 GB (NF4), only ~0.5% params trained</a:t>
            </a:r>
          </a:p>
          <a:p>
            <a:endParaRPr lang="en-US" sz="2000" dirty="0">
              <a:latin typeface="Calibri"/>
            </a:endParaRPr>
          </a:p>
          <a:p>
            <a:r>
              <a:rPr lang="en-US" sz="2000" dirty="0">
                <a:latin typeface="Calibri"/>
              </a:rPr>
              <a:t>▸  Hardware: NVIDIA RTX 2000 Ada (8 GB VRAM), Intel i7-13850HX</a:t>
            </a:r>
          </a:p>
          <a:p>
            <a:r>
              <a:rPr lang="en-US" sz="2000" dirty="0">
                <a:latin typeface="Calibri"/>
              </a:rPr>
              <a:t>▸  Stack: Python 3.13, PyTorch ≥2.0, HuggingFace Transformers ≥5.5</a:t>
            </a:r>
          </a:p>
        </p:txBody>
      </p:sp>
      <p:sp>
        <p:nvSpPr>
          <p:cNvPr id="5" name="Title 4">
            <a:extLst>
              <a:ext uri="{FF2B5EF4-FFF2-40B4-BE49-F238E27FC236}">
                <a16:creationId xmlns:a16="http://schemas.microsoft.com/office/drawing/2014/main" id="{8502C412-00CB-657E-E885-D6D72CC6566B}"/>
              </a:ext>
            </a:extLst>
          </p:cNvPr>
          <p:cNvSpPr>
            <a:spLocks noGrp="1"/>
          </p:cNvSpPr>
          <p:nvPr>
            <p:ph type="title"/>
          </p:nvPr>
        </p:nvSpPr>
        <p:spPr>
          <a:xfrm>
            <a:off x="1248637" y="757654"/>
            <a:ext cx="9247085" cy="421500"/>
          </a:xfrm>
        </p:spPr>
        <p:txBody>
          <a:bodyPr/>
          <a:lstStyle/>
          <a:p>
            <a:r>
              <a:rPr lang="en-US" dirty="0"/>
              <a:t>Training Configuration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926080"/>
            <a:ext cx="12191695" cy="54864"/>
          </a:xfrm>
          <a:prstGeom prst="rect">
            <a:avLst/>
          </a:prstGeom>
          <a:solidFill>
            <a:srgbClr val="A41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571646" y="1645920"/>
            <a:ext cx="1018227" cy="1077218"/>
          </a:xfrm>
          <a:prstGeom prst="rect">
            <a:avLst/>
          </a:prstGeom>
          <a:noFill/>
        </p:spPr>
        <p:txBody>
          <a:bodyPr wrap="none">
            <a:spAutoFit/>
          </a:bodyPr>
          <a:lstStyle/>
          <a:p>
            <a:pPr algn="ctr"/>
            <a:r>
              <a:rPr sz="6400" b="1" dirty="0">
                <a:solidFill>
                  <a:srgbClr val="A4123F"/>
                </a:solidFill>
                <a:latin typeface="Calibri"/>
              </a:rPr>
              <a:t>05</a:t>
            </a:r>
          </a:p>
        </p:txBody>
      </p:sp>
      <p:sp>
        <p:nvSpPr>
          <p:cNvPr id="4" name="TextBox 3"/>
          <p:cNvSpPr txBox="1"/>
          <p:nvPr/>
        </p:nvSpPr>
        <p:spPr>
          <a:xfrm>
            <a:off x="4005993" y="3200400"/>
            <a:ext cx="4149534" cy="584775"/>
          </a:xfrm>
          <a:prstGeom prst="rect">
            <a:avLst/>
          </a:prstGeom>
          <a:noFill/>
        </p:spPr>
        <p:txBody>
          <a:bodyPr wrap="none">
            <a:spAutoFit/>
          </a:bodyPr>
          <a:lstStyle/>
          <a:p>
            <a:pPr algn="ctr"/>
            <a:r>
              <a:rPr sz="3200" b="1" dirty="0">
                <a:latin typeface="Calibri"/>
              </a:rPr>
              <a:t>Block Diagram</a:t>
            </a:r>
          </a:p>
        </p:txBody>
      </p:sp>
      <p:sp>
        <p:nvSpPr>
          <p:cNvPr id="8" name="Rectangle 7">
            <a:extLst>
              <a:ext uri="{FF2B5EF4-FFF2-40B4-BE49-F238E27FC236}">
                <a16:creationId xmlns:a16="http://schemas.microsoft.com/office/drawing/2014/main" id="{17165227-9F30-9245-CA1E-CEBEE1CD25AF}"/>
              </a:ext>
            </a:extLst>
          </p:cNvPr>
          <p:cNvSpPr/>
          <p:nvPr/>
        </p:nvSpPr>
        <p:spPr>
          <a:xfrm>
            <a:off x="508000" y="295564"/>
            <a:ext cx="11222182" cy="14962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SHARP-LLM Pipeline Overview</a:t>
            </a:r>
            <a:endParaRPr lang="en-US" dirty="0"/>
          </a:p>
        </p:txBody>
      </p:sp>
      <p:pic>
        <p:nvPicPr>
          <p:cNvPr id="11" name="Picture 10">
            <a:extLst>
              <a:ext uri="{FF2B5EF4-FFF2-40B4-BE49-F238E27FC236}">
                <a16:creationId xmlns:a16="http://schemas.microsoft.com/office/drawing/2014/main" id="{8A3374E9-AC63-4E57-2F13-0807E2D76867}"/>
              </a:ext>
            </a:extLst>
          </p:cNvPr>
          <p:cNvPicPr>
            <a:picLocks noChangeAspect="1"/>
          </p:cNvPicPr>
          <p:nvPr/>
        </p:nvPicPr>
        <p:blipFill>
          <a:blip r:embed="rId5"/>
          <a:stretch>
            <a:fillRect/>
          </a:stretch>
        </p:blipFill>
        <p:spPr>
          <a:xfrm>
            <a:off x="-323547" y="0"/>
            <a:ext cx="12727004" cy="7103444"/>
          </a:xfrm>
          <a:prstGeom prst="rect">
            <a:avLst/>
          </a:prstGeom>
        </p:spPr>
      </p:pic>
      <p:pic>
        <p:nvPicPr>
          <p:cNvPr id="4" name="Audio 3">
            <a:hlinkClick r:id="" action="ppaction://media"/>
            <a:extLst>
              <a:ext uri="{FF2B5EF4-FFF2-40B4-BE49-F238E27FC236}">
                <a16:creationId xmlns:a16="http://schemas.microsoft.com/office/drawing/2014/main" id="{4F6FCB06-682B-39F4-9F6B-B9877A6CF74A}"/>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118750" t="-118750" r="-118750" b="-118750"/>
          <a:stretch>
            <a:fillRect/>
          </a:stretch>
        </p:blipFill>
        <p:spPr>
          <a:xfrm>
            <a:off x="10052304" y="4718304"/>
            <a:ext cx="2057400" cy="2057400"/>
          </a:xfrm>
          <a:prstGeom prst="ellipse">
            <a:avLst/>
          </a:prstGeom>
        </p:spPr>
      </p:pic>
    </p:spTree>
  </p:cSld>
  <p:clrMapOvr>
    <a:masterClrMapping/>
  </p:clrMapOvr>
  <mc:AlternateContent xmlns:mc="http://schemas.openxmlformats.org/markup-compatibility/2006" xmlns:p14="http://schemas.microsoft.com/office/powerpoint/2010/main">
    <mc:Choice Requires="p14">
      <p:transition spd="slow" p14:dur="2000" advTm="61278"/>
    </mc:Choice>
    <mc:Fallback xmlns="">
      <p:transition spd="slow" advTm="6127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DB49135-9B60-0851-124B-D1BB0CA88398}"/>
              </a:ext>
            </a:extLst>
          </p:cNvPr>
          <p:cNvSpPr>
            <a:spLocks noGrp="1"/>
          </p:cNvSpPr>
          <p:nvPr>
            <p:ph type="title"/>
          </p:nvPr>
        </p:nvSpPr>
        <p:spPr/>
        <p:txBody>
          <a:bodyPr/>
          <a:lstStyle/>
          <a:p>
            <a:endParaRPr lang="en-US"/>
          </a:p>
        </p:txBody>
      </p:sp>
      <p:pic>
        <p:nvPicPr>
          <p:cNvPr id="9" name="Picture 8">
            <a:extLst>
              <a:ext uri="{FF2B5EF4-FFF2-40B4-BE49-F238E27FC236}">
                <a16:creationId xmlns:a16="http://schemas.microsoft.com/office/drawing/2014/main" id="{DB1D43AF-113A-0581-98D7-6DB84B4B8234}"/>
              </a:ext>
            </a:extLst>
          </p:cNvPr>
          <p:cNvPicPr>
            <a:picLocks noChangeAspect="1"/>
          </p:cNvPicPr>
          <p:nvPr/>
        </p:nvPicPr>
        <p:blipFill>
          <a:blip r:embed="rId5"/>
          <a:stretch>
            <a:fillRect/>
          </a:stretch>
        </p:blipFill>
        <p:spPr>
          <a:xfrm>
            <a:off x="-168965" y="26581"/>
            <a:ext cx="12506741" cy="6980506"/>
          </a:xfrm>
          <a:prstGeom prst="rect">
            <a:avLst/>
          </a:prstGeom>
        </p:spPr>
      </p:pic>
      <p:pic>
        <p:nvPicPr>
          <p:cNvPr id="11" name="Audio 10">
            <a:hlinkClick r:id="" action="ppaction://media"/>
            <a:extLst>
              <a:ext uri="{FF2B5EF4-FFF2-40B4-BE49-F238E27FC236}">
                <a16:creationId xmlns:a16="http://schemas.microsoft.com/office/drawing/2014/main" id="{AAC1D746-E2C1-C4C9-549C-D2792315408C}"/>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118750" t="-118750" r="-118750" b="-118750"/>
          <a:stretch>
            <a:fillRect/>
          </a:stretch>
        </p:blipFill>
        <p:spPr>
          <a:xfrm>
            <a:off x="10052304" y="4718304"/>
            <a:ext cx="2057400" cy="2057400"/>
          </a:xfrm>
          <a:prstGeom prst="ellipse">
            <a:avLst/>
          </a:prstGeom>
        </p:spPr>
      </p:pic>
    </p:spTree>
  </p:cSld>
  <p:clrMapOvr>
    <a:masterClrMapping/>
  </p:clrMapOvr>
  <mc:AlternateContent xmlns:mc="http://schemas.openxmlformats.org/markup-compatibility/2006" xmlns:p14="http://schemas.microsoft.com/office/powerpoint/2010/main">
    <mc:Choice Requires="p14">
      <p:transition spd="slow" p14:dur="2000" advTm="96814"/>
    </mc:Choice>
    <mc:Fallback xmlns="">
      <p:transition spd="slow" advTm="9681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926080"/>
            <a:ext cx="12191695" cy="54864"/>
          </a:xfrm>
          <a:prstGeom prst="rect">
            <a:avLst/>
          </a:prstGeom>
          <a:solidFill>
            <a:srgbClr val="A41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571646" y="1645920"/>
            <a:ext cx="1018227" cy="1077218"/>
          </a:xfrm>
          <a:prstGeom prst="rect">
            <a:avLst/>
          </a:prstGeom>
          <a:noFill/>
        </p:spPr>
        <p:txBody>
          <a:bodyPr wrap="none">
            <a:spAutoFit/>
          </a:bodyPr>
          <a:lstStyle/>
          <a:p>
            <a:pPr algn="ctr"/>
            <a:r>
              <a:rPr sz="6400" b="1" dirty="0">
                <a:solidFill>
                  <a:srgbClr val="A4123F"/>
                </a:solidFill>
                <a:latin typeface="Calibri"/>
              </a:rPr>
              <a:t>06</a:t>
            </a:r>
          </a:p>
        </p:txBody>
      </p:sp>
      <p:sp>
        <p:nvSpPr>
          <p:cNvPr id="4" name="TextBox 3"/>
          <p:cNvSpPr txBox="1"/>
          <p:nvPr/>
        </p:nvSpPr>
        <p:spPr>
          <a:xfrm>
            <a:off x="4005993" y="3200400"/>
            <a:ext cx="4149534" cy="584775"/>
          </a:xfrm>
          <a:prstGeom prst="rect">
            <a:avLst/>
          </a:prstGeom>
          <a:noFill/>
        </p:spPr>
        <p:txBody>
          <a:bodyPr wrap="none">
            <a:spAutoFit/>
          </a:bodyPr>
          <a:lstStyle/>
          <a:p>
            <a:pPr algn="ctr"/>
            <a:r>
              <a:rPr sz="3200" b="1" dirty="0">
                <a:latin typeface="Calibri"/>
              </a:rPr>
              <a:t>Results</a:t>
            </a:r>
          </a:p>
        </p:txBody>
      </p:sp>
      <p:sp>
        <p:nvSpPr>
          <p:cNvPr id="8" name="Rectangle 7">
            <a:extLst>
              <a:ext uri="{FF2B5EF4-FFF2-40B4-BE49-F238E27FC236}">
                <a16:creationId xmlns:a16="http://schemas.microsoft.com/office/drawing/2014/main" id="{17165227-9F30-9245-CA1E-CEBEE1CD25AF}"/>
              </a:ext>
            </a:extLst>
          </p:cNvPr>
          <p:cNvSpPr/>
          <p:nvPr/>
        </p:nvSpPr>
        <p:spPr>
          <a:xfrm>
            <a:off x="508000" y="295564"/>
            <a:ext cx="11222182" cy="14962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502C412-00CB-657E-E885-D6D72CC6566B}"/>
              </a:ext>
            </a:extLst>
          </p:cNvPr>
          <p:cNvSpPr>
            <a:spLocks noGrp="1"/>
          </p:cNvSpPr>
          <p:nvPr>
            <p:ph type="title"/>
          </p:nvPr>
        </p:nvSpPr>
        <p:spPr>
          <a:xfrm>
            <a:off x="1248637" y="757654"/>
            <a:ext cx="9247085" cy="421500"/>
          </a:xfrm>
        </p:spPr>
        <p:txBody>
          <a:bodyPr/>
          <a:lstStyle/>
          <a:p>
            <a:r>
              <a:rPr lang="en-US" dirty="0"/>
              <a:t>Model Comparison — Full Test Set (22,447 samples)</a:t>
            </a:r>
          </a:p>
        </p:txBody>
      </p:sp>
      <p:graphicFrame>
        <p:nvGraphicFramePr>
          <p:cNvPr id="6" name="Table 5"/>
          <p:cNvGraphicFramePr>
            <a:graphicFrameLocks noGrp="1"/>
          </p:cNvGraphicFramePr>
          <p:nvPr/>
        </p:nvGraphicFramePr>
        <p:xfrm>
          <a:off x="1295400" y="1810978"/>
          <a:ext cx="9601200" cy="3500000"/>
        </p:xfrm>
        <a:graphic>
          <a:graphicData uri="http://schemas.openxmlformats.org/drawingml/2006/table">
            <a:tbl>
              <a:tblPr firstRow="1" bandRow="1">
                <a:tableStyleId>{5C22544A-7EE6-4342-B048-85BDC9FD1C3A}</a:tableStyleId>
              </a:tblPr>
              <a:tblGrid>
                <a:gridCol w="1200150">
                  <a:extLst>
                    <a:ext uri="{9D8B030D-6E8A-4147-A177-3AD203B41FA5}">
                      <a16:colId xmlns:a16="http://schemas.microsoft.com/office/drawing/2014/main" val="20000"/>
                    </a:ext>
                  </a:extLst>
                </a:gridCol>
                <a:gridCol w="1200150">
                  <a:extLst>
                    <a:ext uri="{9D8B030D-6E8A-4147-A177-3AD203B41FA5}">
                      <a16:colId xmlns:a16="http://schemas.microsoft.com/office/drawing/2014/main" val="20001"/>
                    </a:ext>
                  </a:extLst>
                </a:gridCol>
                <a:gridCol w="1200150">
                  <a:extLst>
                    <a:ext uri="{9D8B030D-6E8A-4147-A177-3AD203B41FA5}">
                      <a16:colId xmlns:a16="http://schemas.microsoft.com/office/drawing/2014/main" val="20002"/>
                    </a:ext>
                  </a:extLst>
                </a:gridCol>
                <a:gridCol w="1200150">
                  <a:extLst>
                    <a:ext uri="{9D8B030D-6E8A-4147-A177-3AD203B41FA5}">
                      <a16:colId xmlns:a16="http://schemas.microsoft.com/office/drawing/2014/main" val="20003"/>
                    </a:ext>
                  </a:extLst>
                </a:gridCol>
                <a:gridCol w="1200150">
                  <a:extLst>
                    <a:ext uri="{9D8B030D-6E8A-4147-A177-3AD203B41FA5}">
                      <a16:colId xmlns:a16="http://schemas.microsoft.com/office/drawing/2014/main" val="20004"/>
                    </a:ext>
                  </a:extLst>
                </a:gridCol>
                <a:gridCol w="1200150">
                  <a:extLst>
                    <a:ext uri="{9D8B030D-6E8A-4147-A177-3AD203B41FA5}">
                      <a16:colId xmlns:a16="http://schemas.microsoft.com/office/drawing/2014/main" val="20005"/>
                    </a:ext>
                  </a:extLst>
                </a:gridCol>
                <a:gridCol w="1200150">
                  <a:extLst>
                    <a:ext uri="{9D8B030D-6E8A-4147-A177-3AD203B41FA5}">
                      <a16:colId xmlns:a16="http://schemas.microsoft.com/office/drawing/2014/main" val="20006"/>
                    </a:ext>
                  </a:extLst>
                </a:gridCol>
                <a:gridCol w="1200150">
                  <a:extLst>
                    <a:ext uri="{9D8B030D-6E8A-4147-A177-3AD203B41FA5}">
                      <a16:colId xmlns:a16="http://schemas.microsoft.com/office/drawing/2014/main" val="20007"/>
                    </a:ext>
                  </a:extLst>
                </a:gridCol>
              </a:tblGrid>
              <a:tr h="500000">
                <a:tc>
                  <a:txBody>
                    <a:bodyPr/>
                    <a:lstStyle/>
                    <a:p>
                      <a:pPr>
                        <a:defRPr sz="1400" b="1">
                          <a:solidFill>
                            <a:srgbClr val="FFFFFF"/>
                          </a:solidFill>
                          <a:latin typeface="Calibri"/>
                        </a:defRPr>
                      </a:pPr>
                      <a:r>
                        <a:t>Model</a:t>
                      </a:r>
                    </a:p>
                  </a:txBody>
                  <a:tcPr>
                    <a:solidFill>
                      <a:srgbClr val="A4123F"/>
                    </a:solidFill>
                  </a:tcPr>
                </a:tc>
                <a:tc>
                  <a:txBody>
                    <a:bodyPr/>
                    <a:lstStyle/>
                    <a:p>
                      <a:pPr>
                        <a:defRPr sz="1400" b="1">
                          <a:solidFill>
                            <a:srgbClr val="FFFFFF"/>
                          </a:solidFill>
                          <a:latin typeface="Calibri"/>
                        </a:defRPr>
                      </a:pPr>
                      <a:r>
                        <a:t>Params</a:t>
                      </a:r>
                    </a:p>
                  </a:txBody>
                  <a:tcPr>
                    <a:solidFill>
                      <a:srgbClr val="A4123F"/>
                    </a:solidFill>
                  </a:tcPr>
                </a:tc>
                <a:tc>
                  <a:txBody>
                    <a:bodyPr/>
                    <a:lstStyle/>
                    <a:p>
                      <a:pPr>
                        <a:defRPr sz="1400" b="1">
                          <a:solidFill>
                            <a:srgbClr val="FFFFFF"/>
                          </a:solidFill>
                          <a:latin typeface="Calibri"/>
                        </a:defRPr>
                      </a:pPr>
                      <a:r>
                        <a:t>Accuracy</a:t>
                      </a:r>
                    </a:p>
                  </a:txBody>
                  <a:tcPr>
                    <a:solidFill>
                      <a:srgbClr val="A4123F"/>
                    </a:solidFill>
                  </a:tcPr>
                </a:tc>
                <a:tc>
                  <a:txBody>
                    <a:bodyPr/>
                    <a:lstStyle/>
                    <a:p>
                      <a:pPr>
                        <a:defRPr sz="1400" b="1">
                          <a:solidFill>
                            <a:srgbClr val="FFFFFF"/>
                          </a:solidFill>
                          <a:latin typeface="Calibri"/>
                        </a:defRPr>
                      </a:pPr>
                      <a:r>
                        <a:t>Precision</a:t>
                      </a:r>
                    </a:p>
                  </a:txBody>
                  <a:tcPr>
                    <a:solidFill>
                      <a:srgbClr val="A4123F"/>
                    </a:solidFill>
                  </a:tcPr>
                </a:tc>
                <a:tc>
                  <a:txBody>
                    <a:bodyPr/>
                    <a:lstStyle/>
                    <a:p>
                      <a:pPr>
                        <a:defRPr sz="1400" b="1">
                          <a:solidFill>
                            <a:srgbClr val="FFFFFF"/>
                          </a:solidFill>
                          <a:latin typeface="Calibri"/>
                        </a:defRPr>
                      </a:pPr>
                      <a:r>
                        <a:t>Recall</a:t>
                      </a:r>
                    </a:p>
                  </a:txBody>
                  <a:tcPr>
                    <a:solidFill>
                      <a:srgbClr val="A4123F"/>
                    </a:solidFill>
                  </a:tcPr>
                </a:tc>
                <a:tc>
                  <a:txBody>
                    <a:bodyPr/>
                    <a:lstStyle/>
                    <a:p>
                      <a:pPr>
                        <a:defRPr sz="1400" b="1">
                          <a:solidFill>
                            <a:srgbClr val="FFFFFF"/>
                          </a:solidFill>
                          <a:latin typeface="Calibri"/>
                        </a:defRPr>
                      </a:pPr>
                      <a:r>
                        <a:t>F1</a:t>
                      </a:r>
                    </a:p>
                  </a:txBody>
                  <a:tcPr>
                    <a:solidFill>
                      <a:srgbClr val="A4123F"/>
                    </a:solidFill>
                  </a:tcPr>
                </a:tc>
                <a:tc>
                  <a:txBody>
                    <a:bodyPr/>
                    <a:lstStyle/>
                    <a:p>
                      <a:pPr>
                        <a:defRPr sz="1400" b="1">
                          <a:solidFill>
                            <a:srgbClr val="FFFFFF"/>
                          </a:solidFill>
                          <a:latin typeface="Calibri"/>
                        </a:defRPr>
                      </a:pPr>
                      <a:r>
                        <a:t>MCC</a:t>
                      </a:r>
                    </a:p>
                  </a:txBody>
                  <a:tcPr>
                    <a:solidFill>
                      <a:srgbClr val="A4123F"/>
                    </a:solidFill>
                  </a:tcPr>
                </a:tc>
                <a:tc>
                  <a:txBody>
                    <a:bodyPr/>
                    <a:lstStyle/>
                    <a:p>
                      <a:pPr>
                        <a:defRPr sz="1400" b="1">
                          <a:solidFill>
                            <a:srgbClr val="FFFFFF"/>
                          </a:solidFill>
                          <a:latin typeface="Calibri"/>
                        </a:defRPr>
                      </a:pPr>
                      <a:r>
                        <a:t>Latency</a:t>
                      </a:r>
                    </a:p>
                  </a:txBody>
                  <a:tcPr>
                    <a:solidFill>
                      <a:srgbClr val="A4123F"/>
                    </a:solidFill>
                  </a:tcPr>
                </a:tc>
                <a:extLst>
                  <a:ext uri="{0D108BD9-81ED-4DB2-BD59-A6C34878D82A}">
                    <a16:rowId xmlns:a16="http://schemas.microsoft.com/office/drawing/2014/main" val="10000"/>
                  </a:ext>
                </a:extLst>
              </a:tr>
              <a:tr h="500000">
                <a:tc>
                  <a:txBody>
                    <a:bodyPr/>
                    <a:lstStyle/>
                    <a:p>
                      <a:pPr>
                        <a:defRPr sz="1200" b="0">
                          <a:latin typeface="Calibri"/>
                        </a:defRPr>
                      </a:pPr>
                      <a:r>
                        <a:t>CodeT5-Small</a:t>
                      </a:r>
                    </a:p>
                  </a:txBody>
                  <a:tcPr/>
                </a:tc>
                <a:tc>
                  <a:txBody>
                    <a:bodyPr/>
                    <a:lstStyle/>
                    <a:p>
                      <a:pPr>
                        <a:defRPr sz="1200" b="0">
                          <a:latin typeface="Calibri"/>
                        </a:defRPr>
                      </a:pPr>
                      <a:r>
                        <a:t>35.4M</a:t>
                      </a:r>
                    </a:p>
                  </a:txBody>
                  <a:tcPr/>
                </a:tc>
                <a:tc>
                  <a:txBody>
                    <a:bodyPr/>
                    <a:lstStyle/>
                    <a:p>
                      <a:pPr>
                        <a:defRPr sz="1200" b="0">
                          <a:latin typeface="Calibri"/>
                        </a:defRPr>
                      </a:pPr>
                      <a:r>
                        <a:t>0.9980</a:t>
                      </a:r>
                    </a:p>
                  </a:txBody>
                  <a:tcPr/>
                </a:tc>
                <a:tc>
                  <a:txBody>
                    <a:bodyPr/>
                    <a:lstStyle/>
                    <a:p>
                      <a:pPr>
                        <a:defRPr sz="1200" b="0">
                          <a:latin typeface="Calibri"/>
                        </a:defRPr>
                      </a:pPr>
                      <a:r>
                        <a:t>0.9533</a:t>
                      </a:r>
                    </a:p>
                  </a:txBody>
                  <a:tcPr/>
                </a:tc>
                <a:tc>
                  <a:txBody>
                    <a:bodyPr/>
                    <a:lstStyle/>
                    <a:p>
                      <a:pPr>
                        <a:defRPr sz="1200" b="0">
                          <a:latin typeface="Calibri"/>
                        </a:defRPr>
                      </a:pPr>
                      <a:r>
                        <a:t>0.9534</a:t>
                      </a:r>
                    </a:p>
                  </a:txBody>
                  <a:tcPr/>
                </a:tc>
                <a:tc>
                  <a:txBody>
                    <a:bodyPr/>
                    <a:lstStyle/>
                    <a:p>
                      <a:pPr>
                        <a:defRPr sz="1200" b="0">
                          <a:latin typeface="Calibri"/>
                        </a:defRPr>
                      </a:pPr>
                      <a:r>
                        <a:t>0.9533</a:t>
                      </a:r>
                    </a:p>
                  </a:txBody>
                  <a:tcPr/>
                </a:tc>
                <a:tc>
                  <a:txBody>
                    <a:bodyPr/>
                    <a:lstStyle/>
                    <a:p>
                      <a:pPr>
                        <a:defRPr sz="1200" b="0">
                          <a:latin typeface="Calibri"/>
                        </a:defRPr>
                      </a:pPr>
                      <a:r>
                        <a:t>0.9979</a:t>
                      </a:r>
                    </a:p>
                  </a:txBody>
                  <a:tcPr/>
                </a:tc>
                <a:tc>
                  <a:txBody>
                    <a:bodyPr/>
                    <a:lstStyle/>
                    <a:p>
                      <a:pPr>
                        <a:defRPr sz="1200" b="0">
                          <a:latin typeface="Calibri"/>
                        </a:defRPr>
                      </a:pPr>
                      <a:r>
                        <a:t>17.2 ms</a:t>
                      </a:r>
                    </a:p>
                  </a:txBody>
                  <a:tcPr/>
                </a:tc>
                <a:extLst>
                  <a:ext uri="{0D108BD9-81ED-4DB2-BD59-A6C34878D82A}">
                    <a16:rowId xmlns:a16="http://schemas.microsoft.com/office/drawing/2014/main" val="10001"/>
                  </a:ext>
                </a:extLst>
              </a:tr>
              <a:tr h="500000">
                <a:tc>
                  <a:txBody>
                    <a:bodyPr/>
                    <a:lstStyle/>
                    <a:p>
                      <a:pPr>
                        <a:defRPr sz="1200" b="0">
                          <a:latin typeface="Calibri"/>
                        </a:defRPr>
                      </a:pPr>
                      <a:r>
                        <a:t>CodeT5-Base</a:t>
                      </a:r>
                    </a:p>
                  </a:txBody>
                  <a:tcPr/>
                </a:tc>
                <a:tc>
                  <a:txBody>
                    <a:bodyPr/>
                    <a:lstStyle/>
                    <a:p>
                      <a:pPr>
                        <a:defRPr sz="1200" b="0">
                          <a:latin typeface="Calibri"/>
                        </a:defRPr>
                      </a:pPr>
                      <a:r>
                        <a:t>109.7M</a:t>
                      </a:r>
                    </a:p>
                  </a:txBody>
                  <a:tcPr/>
                </a:tc>
                <a:tc>
                  <a:txBody>
                    <a:bodyPr/>
                    <a:lstStyle/>
                    <a:p>
                      <a:pPr>
                        <a:defRPr sz="1200" b="0">
                          <a:latin typeface="Calibri"/>
                        </a:defRPr>
                      </a:pPr>
                      <a:r>
                        <a:t>0.9978</a:t>
                      </a:r>
                    </a:p>
                  </a:txBody>
                  <a:tcPr/>
                </a:tc>
                <a:tc>
                  <a:txBody>
                    <a:bodyPr/>
                    <a:lstStyle/>
                    <a:p>
                      <a:pPr>
                        <a:defRPr sz="1200" b="0">
                          <a:latin typeface="Calibri"/>
                        </a:defRPr>
                      </a:pPr>
                      <a:r>
                        <a:t>0.9585</a:t>
                      </a:r>
                    </a:p>
                  </a:txBody>
                  <a:tcPr/>
                </a:tc>
                <a:tc>
                  <a:txBody>
                    <a:bodyPr/>
                    <a:lstStyle/>
                    <a:p>
                      <a:pPr>
                        <a:defRPr sz="1200" b="0">
                          <a:latin typeface="Calibri"/>
                        </a:defRPr>
                      </a:pPr>
                      <a:r>
                        <a:t>0.9644</a:t>
                      </a:r>
                    </a:p>
                  </a:txBody>
                  <a:tcPr/>
                </a:tc>
                <a:tc>
                  <a:txBody>
                    <a:bodyPr/>
                    <a:lstStyle/>
                    <a:p>
                      <a:pPr>
                        <a:defRPr sz="1200" b="0">
                          <a:latin typeface="Calibri"/>
                        </a:defRPr>
                      </a:pPr>
                      <a:r>
                        <a:t>0.9605</a:t>
                      </a:r>
                    </a:p>
                  </a:txBody>
                  <a:tcPr/>
                </a:tc>
                <a:tc>
                  <a:txBody>
                    <a:bodyPr/>
                    <a:lstStyle/>
                    <a:p>
                      <a:pPr>
                        <a:defRPr sz="1200" b="0">
                          <a:latin typeface="Calibri"/>
                        </a:defRPr>
                      </a:pPr>
                      <a:r>
                        <a:t>0.9977</a:t>
                      </a:r>
                    </a:p>
                  </a:txBody>
                  <a:tcPr/>
                </a:tc>
                <a:tc>
                  <a:txBody>
                    <a:bodyPr/>
                    <a:lstStyle/>
                    <a:p>
                      <a:pPr>
                        <a:defRPr sz="1200" b="0">
                          <a:latin typeface="Calibri"/>
                        </a:defRPr>
                      </a:pPr>
                      <a:r>
                        <a:t>24.9 ms</a:t>
                      </a:r>
                    </a:p>
                  </a:txBody>
                  <a:tcPr/>
                </a:tc>
                <a:extLst>
                  <a:ext uri="{0D108BD9-81ED-4DB2-BD59-A6C34878D82A}">
                    <a16:rowId xmlns:a16="http://schemas.microsoft.com/office/drawing/2014/main" val="10002"/>
                  </a:ext>
                </a:extLst>
              </a:tr>
              <a:tr h="500000">
                <a:tc>
                  <a:txBody>
                    <a:bodyPr/>
                    <a:lstStyle/>
                    <a:p>
                      <a:pPr>
                        <a:defRPr sz="1200" b="0">
                          <a:latin typeface="Calibri"/>
                        </a:defRPr>
                      </a:pPr>
                      <a:r>
                        <a:t>CodeBERT-Base</a:t>
                      </a:r>
                    </a:p>
                  </a:txBody>
                  <a:tcPr/>
                </a:tc>
                <a:tc>
                  <a:txBody>
                    <a:bodyPr/>
                    <a:lstStyle/>
                    <a:p>
                      <a:pPr>
                        <a:defRPr sz="1200" b="0">
                          <a:latin typeface="Calibri"/>
                        </a:defRPr>
                      </a:pPr>
                      <a:r>
                        <a:t>124.7M</a:t>
                      </a:r>
                    </a:p>
                  </a:txBody>
                  <a:tcPr/>
                </a:tc>
                <a:tc>
                  <a:txBody>
                    <a:bodyPr/>
                    <a:lstStyle/>
                    <a:p>
                      <a:pPr>
                        <a:defRPr sz="1200" b="0">
                          <a:latin typeface="Calibri"/>
                        </a:defRPr>
                      </a:pPr>
                      <a:r>
                        <a:t>0.9963</a:t>
                      </a:r>
                    </a:p>
                  </a:txBody>
                  <a:tcPr/>
                </a:tc>
                <a:tc>
                  <a:txBody>
                    <a:bodyPr/>
                    <a:lstStyle/>
                    <a:p>
                      <a:pPr>
                        <a:defRPr sz="1200" b="0">
                          <a:latin typeface="Calibri"/>
                        </a:defRPr>
                      </a:pPr>
                      <a:r>
                        <a:t>0.9574</a:t>
                      </a:r>
                    </a:p>
                  </a:txBody>
                  <a:tcPr/>
                </a:tc>
                <a:tc>
                  <a:txBody>
                    <a:bodyPr/>
                    <a:lstStyle/>
                    <a:p>
                      <a:pPr>
                        <a:defRPr sz="1200" b="0">
                          <a:latin typeface="Calibri"/>
                        </a:defRPr>
                      </a:pPr>
                      <a:r>
                        <a:t>0.9539</a:t>
                      </a:r>
                    </a:p>
                  </a:txBody>
                  <a:tcPr/>
                </a:tc>
                <a:tc>
                  <a:txBody>
                    <a:bodyPr/>
                    <a:lstStyle/>
                    <a:p>
                      <a:pPr>
                        <a:defRPr sz="1200" b="0">
                          <a:latin typeface="Calibri"/>
                        </a:defRPr>
                      </a:pPr>
                      <a:r>
                        <a:t>0.9512</a:t>
                      </a:r>
                    </a:p>
                  </a:txBody>
                  <a:tcPr/>
                </a:tc>
                <a:tc>
                  <a:txBody>
                    <a:bodyPr/>
                    <a:lstStyle/>
                    <a:p>
                      <a:pPr>
                        <a:defRPr sz="1200" b="0">
                          <a:latin typeface="Calibri"/>
                        </a:defRPr>
                      </a:pPr>
                      <a:r>
                        <a:t>0.9961</a:t>
                      </a:r>
                    </a:p>
                  </a:txBody>
                  <a:tcPr/>
                </a:tc>
                <a:tc>
                  <a:txBody>
                    <a:bodyPr/>
                    <a:lstStyle/>
                    <a:p>
                      <a:pPr>
                        <a:defRPr sz="1200" b="0">
                          <a:latin typeface="Calibri"/>
                        </a:defRPr>
                      </a:pPr>
                      <a:r>
                        <a:t>19.4 ms</a:t>
                      </a:r>
                    </a:p>
                  </a:txBody>
                  <a:tcPr/>
                </a:tc>
                <a:extLst>
                  <a:ext uri="{0D108BD9-81ED-4DB2-BD59-A6C34878D82A}">
                    <a16:rowId xmlns:a16="http://schemas.microsoft.com/office/drawing/2014/main" val="10003"/>
                  </a:ext>
                </a:extLst>
              </a:tr>
              <a:tr h="500000">
                <a:tc>
                  <a:txBody>
                    <a:bodyPr/>
                    <a:lstStyle/>
                    <a:p>
                      <a:pPr>
                        <a:defRPr sz="1200" b="0">
                          <a:latin typeface="Calibri"/>
                        </a:defRPr>
                      </a:pPr>
                      <a:r>
                        <a:t>GraphCodeBERT</a:t>
                      </a:r>
                    </a:p>
                  </a:txBody>
                  <a:tcPr/>
                </a:tc>
                <a:tc>
                  <a:txBody>
                    <a:bodyPr/>
                    <a:lstStyle/>
                    <a:p>
                      <a:pPr>
                        <a:defRPr sz="1200" b="0">
                          <a:latin typeface="Calibri"/>
                        </a:defRPr>
                      </a:pPr>
                      <a:r>
                        <a:t>124.7M</a:t>
                      </a:r>
                    </a:p>
                  </a:txBody>
                  <a:tcPr/>
                </a:tc>
                <a:tc>
                  <a:txBody>
                    <a:bodyPr/>
                    <a:lstStyle/>
                    <a:p>
                      <a:pPr>
                        <a:defRPr sz="1200" b="0">
                          <a:latin typeface="Calibri"/>
                        </a:defRPr>
                      </a:pPr>
                      <a:r>
                        <a:t>0.9975</a:t>
                      </a:r>
                    </a:p>
                  </a:txBody>
                  <a:tcPr/>
                </a:tc>
                <a:tc>
                  <a:txBody>
                    <a:bodyPr/>
                    <a:lstStyle/>
                    <a:p>
                      <a:pPr>
                        <a:defRPr sz="1200" b="0">
                          <a:latin typeface="Calibri"/>
                        </a:defRPr>
                      </a:pPr>
                      <a:r>
                        <a:t>0.9530</a:t>
                      </a:r>
                    </a:p>
                  </a:txBody>
                  <a:tcPr/>
                </a:tc>
                <a:tc>
                  <a:txBody>
                    <a:bodyPr/>
                    <a:lstStyle/>
                    <a:p>
                      <a:pPr>
                        <a:defRPr sz="1200" b="0">
                          <a:latin typeface="Calibri"/>
                        </a:defRPr>
                      </a:pPr>
                      <a:r>
                        <a:t>0.9530</a:t>
                      </a:r>
                    </a:p>
                  </a:txBody>
                  <a:tcPr/>
                </a:tc>
                <a:tc>
                  <a:txBody>
                    <a:bodyPr/>
                    <a:lstStyle/>
                    <a:p>
                      <a:pPr>
                        <a:defRPr sz="1200" b="0">
                          <a:latin typeface="Calibri"/>
                        </a:defRPr>
                      </a:pPr>
                      <a:r>
                        <a:t>0.9530</a:t>
                      </a:r>
                    </a:p>
                  </a:txBody>
                  <a:tcPr/>
                </a:tc>
                <a:tc>
                  <a:txBody>
                    <a:bodyPr/>
                    <a:lstStyle/>
                    <a:p>
                      <a:pPr>
                        <a:defRPr sz="1200" b="0">
                          <a:latin typeface="Calibri"/>
                        </a:defRPr>
                      </a:pPr>
                      <a:r>
                        <a:t>0.9974</a:t>
                      </a:r>
                    </a:p>
                  </a:txBody>
                  <a:tcPr/>
                </a:tc>
                <a:tc>
                  <a:txBody>
                    <a:bodyPr/>
                    <a:lstStyle/>
                    <a:p>
                      <a:pPr>
                        <a:defRPr sz="1200" b="0">
                          <a:latin typeface="Calibri"/>
                        </a:defRPr>
                      </a:pPr>
                      <a:r>
                        <a:t>26.9 ms</a:t>
                      </a:r>
                    </a:p>
                  </a:txBody>
                  <a:tcPr/>
                </a:tc>
                <a:extLst>
                  <a:ext uri="{0D108BD9-81ED-4DB2-BD59-A6C34878D82A}">
                    <a16:rowId xmlns:a16="http://schemas.microsoft.com/office/drawing/2014/main" val="10004"/>
                  </a:ext>
                </a:extLst>
              </a:tr>
              <a:tr h="500000">
                <a:tc>
                  <a:txBody>
                    <a:bodyPr/>
                    <a:lstStyle/>
                    <a:p>
                      <a:pPr>
                        <a:defRPr sz="1200" b="0">
                          <a:latin typeface="Calibri"/>
                        </a:defRPr>
                      </a:pPr>
                      <a:r>
                        <a:t>CodeGemma-2B (ZS)</a:t>
                      </a:r>
                    </a:p>
                  </a:txBody>
                  <a:tcPr/>
                </a:tc>
                <a:tc>
                  <a:txBody>
                    <a:bodyPr/>
                    <a:lstStyle/>
                    <a:p>
                      <a:pPr>
                        <a:defRPr sz="1200" b="0">
                          <a:latin typeface="Calibri"/>
                        </a:defRPr>
                      </a:pPr>
                      <a:r>
                        <a:t>2.51B</a:t>
                      </a:r>
                    </a:p>
                  </a:txBody>
                  <a:tcPr/>
                </a:tc>
                <a:tc>
                  <a:txBody>
                    <a:bodyPr/>
                    <a:lstStyle/>
                    <a:p>
                      <a:pPr>
                        <a:defRPr sz="1200" b="0">
                          <a:latin typeface="Calibri"/>
                        </a:defRPr>
                      </a:pPr>
                      <a:r>
                        <a:t>0.2500</a:t>
                      </a:r>
                    </a:p>
                  </a:txBody>
                  <a:tcPr/>
                </a:tc>
                <a:tc>
                  <a:txBody>
                    <a:bodyPr/>
                    <a:lstStyle/>
                    <a:p>
                      <a:pPr>
                        <a:defRPr sz="1200" b="0">
                          <a:latin typeface="Calibri"/>
                        </a:defRPr>
                      </a:pPr>
                      <a:r>
                        <a:t>0.1755</a:t>
                      </a:r>
                    </a:p>
                  </a:txBody>
                  <a:tcPr/>
                </a:tc>
                <a:tc>
                  <a:txBody>
                    <a:bodyPr/>
                    <a:lstStyle/>
                    <a:p>
                      <a:pPr>
                        <a:defRPr sz="1200" b="0">
                          <a:latin typeface="Calibri"/>
                        </a:defRPr>
                      </a:pPr>
                      <a:r>
                        <a:t>0.0832</a:t>
                      </a:r>
                    </a:p>
                  </a:txBody>
                  <a:tcPr/>
                </a:tc>
                <a:tc>
                  <a:txBody>
                    <a:bodyPr/>
                    <a:lstStyle/>
                    <a:p>
                      <a:pPr>
                        <a:defRPr sz="1200" b="0">
                          <a:latin typeface="Calibri"/>
                        </a:defRPr>
                      </a:pPr>
                      <a:r>
                        <a:t>0.0948</a:t>
                      </a:r>
                    </a:p>
                  </a:txBody>
                  <a:tcPr/>
                </a:tc>
                <a:tc>
                  <a:txBody>
                    <a:bodyPr/>
                    <a:lstStyle/>
                    <a:p>
                      <a:pPr>
                        <a:defRPr sz="1200" b="0">
                          <a:latin typeface="Calibri"/>
                        </a:defRPr>
                      </a:pPr>
                      <a:r>
                        <a:t>0.3022</a:t>
                      </a:r>
                    </a:p>
                  </a:txBody>
                  <a:tcPr/>
                </a:tc>
                <a:tc>
                  <a:txBody>
                    <a:bodyPr/>
                    <a:lstStyle/>
                    <a:p>
                      <a:pPr>
                        <a:defRPr sz="1200" b="0">
                          <a:latin typeface="Calibri"/>
                        </a:defRPr>
                      </a:pPr>
                      <a:r>
                        <a:t>3,277 ms</a:t>
                      </a:r>
                    </a:p>
                  </a:txBody>
                  <a:tcPr/>
                </a:tc>
                <a:extLst>
                  <a:ext uri="{0D108BD9-81ED-4DB2-BD59-A6C34878D82A}">
                    <a16:rowId xmlns:a16="http://schemas.microsoft.com/office/drawing/2014/main" val="10005"/>
                  </a:ext>
                </a:extLst>
              </a:tr>
              <a:tr h="500000">
                <a:tc>
                  <a:txBody>
                    <a:bodyPr/>
                    <a:lstStyle/>
                    <a:p>
                      <a:pPr>
                        <a:defRPr sz="1200" b="0">
                          <a:latin typeface="Calibri"/>
                        </a:defRPr>
                      </a:pPr>
                      <a:r>
                        <a:t>Gemma-4-E2B-IT (ZS)</a:t>
                      </a:r>
                    </a:p>
                  </a:txBody>
                  <a:tcPr/>
                </a:tc>
                <a:tc>
                  <a:txBody>
                    <a:bodyPr/>
                    <a:lstStyle/>
                    <a:p>
                      <a:pPr>
                        <a:defRPr sz="1200" b="0">
                          <a:latin typeface="Calibri"/>
                        </a:defRPr>
                      </a:pPr>
                      <a:r>
                        <a:t>5.13B</a:t>
                      </a:r>
                    </a:p>
                  </a:txBody>
                  <a:tcPr/>
                </a:tc>
                <a:tc>
                  <a:txBody>
                    <a:bodyPr/>
                    <a:lstStyle/>
                    <a:p>
                      <a:pPr>
                        <a:defRPr sz="1200" b="0">
                          <a:latin typeface="Calibri"/>
                        </a:defRPr>
                      </a:pPr>
                      <a:r>
                        <a:t>0.7800</a:t>
                      </a:r>
                    </a:p>
                  </a:txBody>
                  <a:tcPr/>
                </a:tc>
                <a:tc>
                  <a:txBody>
                    <a:bodyPr/>
                    <a:lstStyle/>
                    <a:p>
                      <a:pPr>
                        <a:defRPr sz="1200" b="0">
                          <a:latin typeface="Calibri"/>
                        </a:defRPr>
                      </a:pPr>
                      <a:r>
                        <a:t>0.6990</a:t>
                      </a:r>
                    </a:p>
                  </a:txBody>
                  <a:tcPr/>
                </a:tc>
                <a:tc>
                  <a:txBody>
                    <a:bodyPr/>
                    <a:lstStyle/>
                    <a:p>
                      <a:pPr>
                        <a:defRPr sz="1200" b="0">
                          <a:latin typeface="Calibri"/>
                        </a:defRPr>
                      </a:pPr>
                      <a:r>
                        <a:t>0.7167</a:t>
                      </a:r>
                    </a:p>
                  </a:txBody>
                  <a:tcPr/>
                </a:tc>
                <a:tc>
                  <a:txBody>
                    <a:bodyPr/>
                    <a:lstStyle/>
                    <a:p>
                      <a:pPr>
                        <a:defRPr sz="1200" b="0">
                          <a:latin typeface="Calibri"/>
                        </a:defRPr>
                      </a:pPr>
                      <a:r>
                        <a:t>0.6988</a:t>
                      </a:r>
                    </a:p>
                  </a:txBody>
                  <a:tcPr/>
                </a:tc>
                <a:tc>
                  <a:txBody>
                    <a:bodyPr/>
                    <a:lstStyle/>
                    <a:p>
                      <a:pPr>
                        <a:defRPr sz="1200" b="0">
                          <a:latin typeface="Calibri"/>
                        </a:defRPr>
                      </a:pPr>
                      <a:r>
                        <a:t>0.7799</a:t>
                      </a:r>
                    </a:p>
                  </a:txBody>
                  <a:tcPr/>
                </a:tc>
                <a:tc>
                  <a:txBody>
                    <a:bodyPr/>
                    <a:lstStyle/>
                    <a:p>
                      <a:pPr>
                        <a:defRPr sz="1200" b="0">
                          <a:latin typeface="Calibri"/>
                        </a:defRPr>
                      </a:pPr>
                      <a:r>
                        <a:t>396,273 ms</a:t>
                      </a:r>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46760" y="1749287"/>
            <a:ext cx="10698480" cy="2554545"/>
          </a:xfrm>
          <a:prstGeom prst="rect">
            <a:avLst/>
          </a:prstGeom>
          <a:noFill/>
        </p:spPr>
        <p:txBody>
          <a:bodyPr wrap="square">
            <a:spAutoFit/>
          </a:bodyPr>
          <a:lstStyle/>
          <a:p>
            <a:r>
              <a:rPr lang="en-US" sz="2000" dirty="0">
                <a:latin typeface="Calibri"/>
              </a:rPr>
              <a:t>▸  CodeT5-Base is the best model: highest macro-F1 (0.9605) despite fewer params</a:t>
            </a:r>
          </a:p>
          <a:p>
            <a:r>
              <a:rPr lang="en-US" sz="2000" dirty="0">
                <a:latin typeface="Calibri"/>
              </a:rPr>
              <a:t>▸  Early stopping is critical: CodeBERT &amp; GraphCodeBERT overfit at epoch 2</a:t>
            </a:r>
          </a:p>
          <a:p>
            <a:pPr lvl="1"/>
            <a:r>
              <a:rPr lang="en-US" sz="2000" dirty="0">
                <a:latin typeface="Calibri"/>
              </a:rPr>
              <a:t>◦  GraphCodeBERT F1 drops 5.78 pp (0.9530 → 0.8952) at epoch 2</a:t>
            </a:r>
          </a:p>
          <a:p>
            <a:r>
              <a:rPr lang="en-US" sz="2000" dirty="0">
                <a:latin typeface="Calibri"/>
              </a:rPr>
              <a:t>▸  Template-aware splitting prevents inflated metrics: still &gt;99.6% accuracy</a:t>
            </a:r>
          </a:p>
          <a:p>
            <a:r>
              <a:rPr lang="en-US" sz="2000" dirty="0">
                <a:latin typeface="Calibri"/>
              </a:rPr>
              <a:t>▸  Consumer-grade GPU sufficient: all encoder models train in &lt;53 min on 8 GB VRAM</a:t>
            </a:r>
          </a:p>
          <a:p>
            <a:r>
              <a:rPr lang="en-US" sz="2000" dirty="0">
                <a:latin typeface="Calibri"/>
              </a:rPr>
              <a:t>▸  Fine-tuning dominates zero-shot by 28–75 pp accuracy and 120–23,000× faster inference</a:t>
            </a:r>
          </a:p>
          <a:p>
            <a:r>
              <a:rPr lang="en-US" sz="2000" dirty="0">
                <a:latin typeface="Calibri"/>
              </a:rPr>
              <a:t>▸  Instruction-tuning improves zero-shot 3× (Gemma-4 78% vs CodeGemma 25%)</a:t>
            </a:r>
          </a:p>
          <a:p>
            <a:r>
              <a:rPr lang="en-US" sz="2000" dirty="0">
                <a:latin typeface="Calibri"/>
              </a:rPr>
              <a:t>▸  Sub-30 ms latency — viable for CI/CD, IDE plugins, real-time code review</a:t>
            </a:r>
          </a:p>
        </p:txBody>
      </p:sp>
      <p:sp>
        <p:nvSpPr>
          <p:cNvPr id="5" name="Title 4">
            <a:extLst>
              <a:ext uri="{FF2B5EF4-FFF2-40B4-BE49-F238E27FC236}">
                <a16:creationId xmlns:a16="http://schemas.microsoft.com/office/drawing/2014/main" id="{8502C412-00CB-657E-E885-D6D72CC6566B}"/>
              </a:ext>
            </a:extLst>
          </p:cNvPr>
          <p:cNvSpPr>
            <a:spLocks noGrp="1"/>
          </p:cNvSpPr>
          <p:nvPr>
            <p:ph type="title"/>
          </p:nvPr>
        </p:nvSpPr>
        <p:spPr>
          <a:xfrm>
            <a:off x="1248637" y="757654"/>
            <a:ext cx="9247085" cy="421500"/>
          </a:xfrm>
        </p:spPr>
        <p:txBody>
          <a:bodyPr/>
          <a:lstStyle/>
          <a:p>
            <a:r>
              <a:rPr lang="en-US" dirty="0"/>
              <a:t>Key Experimental Findings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46760" y="1749287"/>
            <a:ext cx="10698480" cy="4524315"/>
          </a:xfrm>
          <a:prstGeom prst="rect">
            <a:avLst/>
          </a:prstGeom>
          <a:noFill/>
        </p:spPr>
        <p:txBody>
          <a:bodyPr wrap="square">
            <a:spAutoFit/>
          </a:bodyPr>
          <a:lstStyle/>
          <a:p>
            <a:r>
              <a:rPr lang="en-US" sz="2400" dirty="0">
                <a:latin typeface="Calibri"/>
              </a:rPr>
              <a:t>▸  74 of 87 test CWE categories achieve perfect F1 = 1.00 (85.1%)</a:t>
            </a:r>
          </a:p>
          <a:p>
            <a:r>
              <a:rPr lang="en-US" sz="2400" dirty="0">
                <a:latin typeface="Calibri"/>
              </a:rPr>
              <a:t>▸  Weighted macro-F1 = 0.9979, confirming accuracy on the vast majority of samples</a:t>
            </a:r>
          </a:p>
          <a:p>
            <a:endParaRPr lang="en-US" sz="2400" dirty="0">
              <a:latin typeface="Calibri"/>
            </a:endParaRPr>
          </a:p>
          <a:p>
            <a:r>
              <a:rPr lang="en-US" sz="2400" dirty="0">
                <a:latin typeface="Calibri"/>
              </a:rPr>
              <a:t>▸  Dominant error: misclassification toward CWE-126 (Buffer Over-read)</a:t>
            </a:r>
          </a:p>
          <a:p>
            <a:pPr lvl="1"/>
            <a:r>
              <a:rPr lang="en-US" sz="2000" dirty="0">
                <a:latin typeface="Calibri"/>
              </a:rPr>
              <a:t>◦  23 of 40 total errors are misclassified as CWE-126</a:t>
            </a:r>
          </a:p>
          <a:p>
            <a:pPr lvl="1"/>
            <a:r>
              <a:rPr lang="en-US" sz="2000" dirty="0">
                <a:latin typeface="Calibri"/>
              </a:rPr>
              <a:t>◦  CWE-127 (Buffer Under-read): 6 errors</a:t>
            </a:r>
          </a:p>
          <a:p>
            <a:endParaRPr lang="en-US" sz="2000" dirty="0">
              <a:latin typeface="Calibri"/>
            </a:endParaRPr>
          </a:p>
          <a:p>
            <a:r>
              <a:rPr lang="en-US" sz="2400" dirty="0">
                <a:latin typeface="Calibri"/>
              </a:rPr>
              <a:t>▸  Root cause: buffer access CWEs share syntactic patterns</a:t>
            </a:r>
          </a:p>
          <a:p>
            <a:pPr lvl="1"/>
            <a:r>
              <a:rPr lang="en-US" sz="2000" dirty="0">
                <a:latin typeface="Calibri"/>
              </a:rPr>
              <a:t>◦  Pointer arithmetic, array indexing, similar code structures</a:t>
            </a:r>
          </a:p>
          <a:p>
            <a:endParaRPr lang="en-US" sz="2000" dirty="0">
              <a:latin typeface="Calibri"/>
            </a:endParaRPr>
          </a:p>
          <a:p>
            <a:r>
              <a:rPr lang="en-US" sz="2400" dirty="0">
                <a:latin typeface="Calibri"/>
              </a:rPr>
              <a:t>▸  3 categories with F1 = 0.00 each have only 1 test sample</a:t>
            </a:r>
          </a:p>
          <a:p>
            <a:pPr lvl="1"/>
            <a:r>
              <a:rPr lang="en-US" sz="2000" dirty="0">
                <a:latin typeface="Calibri"/>
              </a:rPr>
              <a:t>◦  CWE-561, CWE-562, CWE-674 — insufficient data, not model failure</a:t>
            </a:r>
          </a:p>
        </p:txBody>
      </p:sp>
      <p:sp>
        <p:nvSpPr>
          <p:cNvPr id="5" name="Title 4">
            <a:extLst>
              <a:ext uri="{FF2B5EF4-FFF2-40B4-BE49-F238E27FC236}">
                <a16:creationId xmlns:a16="http://schemas.microsoft.com/office/drawing/2014/main" id="{8502C412-00CB-657E-E885-D6D72CC6566B}"/>
              </a:ext>
            </a:extLst>
          </p:cNvPr>
          <p:cNvSpPr>
            <a:spLocks noGrp="1"/>
          </p:cNvSpPr>
          <p:nvPr>
            <p:ph type="title"/>
          </p:nvPr>
        </p:nvSpPr>
        <p:spPr>
          <a:xfrm>
            <a:off x="1248637" y="757654"/>
            <a:ext cx="9247085" cy="421500"/>
          </a:xfrm>
        </p:spPr>
        <p:txBody>
          <a:bodyPr/>
          <a:lstStyle/>
          <a:p>
            <a:r>
              <a:rPr lang="en-US" dirty="0"/>
              <a:t>Per-Class Performance &amp; Error Analysis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46760" y="1749287"/>
            <a:ext cx="10698480" cy="4401205"/>
          </a:xfrm>
          <a:prstGeom prst="rect">
            <a:avLst/>
          </a:prstGeom>
          <a:noFill/>
        </p:spPr>
        <p:txBody>
          <a:bodyPr wrap="square">
            <a:spAutoFit/>
          </a:bodyPr>
          <a:lstStyle/>
          <a:p>
            <a:r>
              <a:rPr lang="en-US" sz="2400" dirty="0">
                <a:latin typeface="Calibri"/>
              </a:rPr>
              <a:t>▸  CodeT5-Small: Best at epoch 2, 53 min total — continued improving</a:t>
            </a:r>
          </a:p>
          <a:p>
            <a:r>
              <a:rPr lang="en-US" sz="2400" dirty="0">
                <a:latin typeface="Calibri"/>
              </a:rPr>
              <a:t>▸  CodeT5-Base: Best at epoch 2, 53 min total — continued improving</a:t>
            </a:r>
          </a:p>
          <a:p>
            <a:r>
              <a:rPr lang="en-US" sz="2400" dirty="0">
                <a:latin typeface="Calibri"/>
              </a:rPr>
              <a:t>▸  CodeBERT-Base: Best at epoch 1, 22 min/epoch — overfits at epoch 2</a:t>
            </a:r>
          </a:p>
          <a:p>
            <a:pPr lvl="1"/>
            <a:r>
              <a:rPr lang="en-US" sz="2000" dirty="0">
                <a:latin typeface="Calibri"/>
              </a:rPr>
              <a:t>◦  F1: 0.9512 → 0.9377 (-1.35 pp)</a:t>
            </a:r>
          </a:p>
          <a:p>
            <a:r>
              <a:rPr lang="en-US" sz="2400" dirty="0">
                <a:latin typeface="Calibri"/>
              </a:rPr>
              <a:t>▸  GraphCodeBERT: Best at epoch 1, 23 min/epoch — overfits at epoch 2</a:t>
            </a:r>
          </a:p>
          <a:p>
            <a:pPr lvl="1"/>
            <a:r>
              <a:rPr lang="en-US" sz="2000" dirty="0">
                <a:latin typeface="Calibri"/>
              </a:rPr>
              <a:t>◦  F1: 0.9530 → 0.8952 (-5.78 pp)</a:t>
            </a:r>
          </a:p>
          <a:p>
            <a:endParaRPr lang="en-US" sz="2000" dirty="0">
              <a:latin typeface="Calibri"/>
            </a:endParaRPr>
          </a:p>
          <a:p>
            <a:r>
              <a:rPr lang="en-US" sz="2400" dirty="0">
                <a:latin typeface="Calibri"/>
              </a:rPr>
              <a:t>▸  Inference Latency (speedup vs CodeGemma-2B zero-shot):</a:t>
            </a:r>
          </a:p>
          <a:p>
            <a:pPr lvl="1"/>
            <a:r>
              <a:rPr lang="en-US" sz="2000" dirty="0">
                <a:latin typeface="Calibri"/>
              </a:rPr>
              <a:t>◦  CodeT5-Small: 17.2 ms (190× faster)</a:t>
            </a:r>
          </a:p>
          <a:p>
            <a:pPr lvl="1"/>
            <a:r>
              <a:rPr lang="en-US" sz="2000" dirty="0">
                <a:latin typeface="Calibri"/>
              </a:rPr>
              <a:t>◦  CodeT5-Base: 24.9 ms (131× faster)</a:t>
            </a:r>
          </a:p>
          <a:p>
            <a:pPr lvl="1"/>
            <a:r>
              <a:rPr lang="en-US" sz="2000" dirty="0">
                <a:latin typeface="Calibri"/>
              </a:rPr>
              <a:t>◦  CodeBERT: 19.4 ms (169× faster)</a:t>
            </a:r>
          </a:p>
          <a:p>
            <a:pPr lvl="1"/>
            <a:r>
              <a:rPr lang="en-US" sz="2000" dirty="0">
                <a:latin typeface="Calibri"/>
              </a:rPr>
              <a:t>◦  GraphCodeBERT: 26.9 ms (122× faster)</a:t>
            </a:r>
          </a:p>
          <a:p>
            <a:pPr lvl="1"/>
            <a:r>
              <a:rPr lang="en-US" sz="2000" dirty="0">
                <a:latin typeface="Calibri"/>
              </a:rPr>
              <a:t>◦  Gemma-4-E2B-IT: 396,273 ms (6.6 min/sample!)</a:t>
            </a:r>
          </a:p>
        </p:txBody>
      </p:sp>
      <p:sp>
        <p:nvSpPr>
          <p:cNvPr id="5" name="Title 4">
            <a:extLst>
              <a:ext uri="{FF2B5EF4-FFF2-40B4-BE49-F238E27FC236}">
                <a16:creationId xmlns:a16="http://schemas.microsoft.com/office/drawing/2014/main" id="{8502C412-00CB-657E-E885-D6D72CC6566B}"/>
              </a:ext>
            </a:extLst>
          </p:cNvPr>
          <p:cNvSpPr>
            <a:spLocks noGrp="1"/>
          </p:cNvSpPr>
          <p:nvPr>
            <p:ph type="title"/>
          </p:nvPr>
        </p:nvSpPr>
        <p:spPr>
          <a:xfrm>
            <a:off x="1248637" y="757654"/>
            <a:ext cx="9247085" cy="421500"/>
          </a:xfrm>
        </p:spPr>
        <p:txBody>
          <a:bodyPr/>
          <a:lstStyle/>
          <a:p>
            <a:r>
              <a:rPr lang="en-US" dirty="0"/>
              <a:t>Training Convergence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the Paper Does Not Do — And Can Improve</a:t>
            </a:r>
            <a:endParaRPr dirty="0"/>
          </a:p>
        </p:txBody>
      </p:sp>
      <p:sp>
        <p:nvSpPr>
          <p:cNvPr id="4" name="TextBox 3"/>
          <p:cNvSpPr txBox="1"/>
          <p:nvPr/>
        </p:nvSpPr>
        <p:spPr>
          <a:xfrm>
            <a:off x="746760" y="1749287"/>
            <a:ext cx="10698480" cy="3970318"/>
          </a:xfrm>
          <a:prstGeom prst="rect">
            <a:avLst/>
          </a:prstGeom>
          <a:noFill/>
        </p:spPr>
        <p:txBody>
          <a:bodyPr wrap="square">
            <a:spAutoFit/>
          </a:bodyPr>
          <a:lstStyle/>
          <a:p>
            <a:r>
              <a:rPr sz="2400" dirty="0">
                <a:latin typeface="Calibri"/>
              </a:rPr>
              <a:t>▸ Synthetic dataset only (Juliet Test Suite)</a:t>
            </a:r>
          </a:p>
          <a:p>
            <a:pPr lvl="1"/>
            <a:r>
              <a:rPr sz="2000" dirty="0">
                <a:latin typeface="Calibri"/>
              </a:rPr>
              <a:t>    Template-generated code lacks real-world complexity (multi-file, third-party libraries)</a:t>
            </a:r>
          </a:p>
          <a:p>
            <a:pPr lvl="1"/>
            <a:r>
              <a:rPr sz="2000" dirty="0">
                <a:latin typeface="Calibri"/>
              </a:rPr>
              <a:t>    Models may not generalize to production healthcare codebases without further validation</a:t>
            </a:r>
          </a:p>
          <a:p>
            <a:endParaRPr sz="2000" dirty="0">
              <a:latin typeface="Calibri"/>
            </a:endParaRPr>
          </a:p>
          <a:p>
            <a:r>
              <a:rPr sz="2400" dirty="0">
                <a:latin typeface="Calibri"/>
              </a:rPr>
              <a:t>▸  Risk prioritization layer is not yet empirically validated</a:t>
            </a:r>
          </a:p>
          <a:p>
            <a:pPr lvl="1"/>
            <a:r>
              <a:rPr sz="2000" dirty="0">
                <a:latin typeface="Calibri"/>
              </a:rPr>
              <a:t>    The CWE → LINDDUN → priority mapping is proposed but not tested on real healthcare incidents</a:t>
            </a:r>
          </a:p>
          <a:p>
            <a:pPr lvl="1"/>
            <a:r>
              <a:rPr sz="2000" dirty="0">
                <a:latin typeface="Calibri"/>
              </a:rPr>
              <a:t>    Future work: apply pipeline to real CVE databases from healthcare breaches</a:t>
            </a:r>
          </a:p>
          <a:p>
            <a:endParaRPr sz="2000" dirty="0">
              <a:latin typeface="Calibri"/>
            </a:endParaRPr>
          </a:p>
          <a:p>
            <a:r>
              <a:rPr sz="2400" dirty="0">
                <a:latin typeface="Calibri"/>
              </a:rPr>
              <a:t>▸  Sequence length constraint (256 tokens)</a:t>
            </a:r>
          </a:p>
          <a:p>
            <a:pPr lvl="1"/>
            <a:r>
              <a:rPr sz="2000" dirty="0">
                <a:latin typeface="Calibri"/>
              </a:rPr>
              <a:t>    Sufficient for Juliet's short functions; may cause information loss on real-world code</a:t>
            </a:r>
          </a:p>
          <a:p>
            <a:endParaRPr sz="2000" dirty="0">
              <a:latin typeface="Calibri"/>
            </a:endParaRPr>
          </a:p>
        </p:txBody>
      </p:sp>
      <p:pic>
        <p:nvPicPr>
          <p:cNvPr id="5" name="Audio 4">
            <a:hlinkClick r:id="" action="ppaction://media"/>
            <a:extLst>
              <a:ext uri="{FF2B5EF4-FFF2-40B4-BE49-F238E27FC236}">
                <a16:creationId xmlns:a16="http://schemas.microsoft.com/office/drawing/2014/main" id="{D6664CA4-34D6-DE3F-8E08-510C1DE8864B}"/>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118750" t="-118750" r="-118750" b="-118750"/>
          <a:stretch>
            <a:fillRect/>
          </a:stretch>
        </p:blipFill>
        <p:spPr>
          <a:xfrm>
            <a:off x="10052304" y="4718304"/>
            <a:ext cx="2057400" cy="2057400"/>
          </a:xfrm>
          <a:prstGeom prst="ellipse">
            <a:avLst/>
          </a:prstGeom>
        </p:spPr>
      </p:pic>
    </p:spTree>
  </p:cSld>
  <p:clrMapOvr>
    <a:masterClrMapping/>
  </p:clrMapOvr>
  <mc:AlternateContent xmlns:mc="http://schemas.openxmlformats.org/markup-compatibility/2006" xmlns:p14="http://schemas.microsoft.com/office/powerpoint/2010/main">
    <mc:Choice Requires="p14">
      <p:transition spd="slow" p14:dur="2000" advTm="71146"/>
    </mc:Choice>
    <mc:Fallback xmlns="">
      <p:transition spd="slow" advTm="7114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926080"/>
            <a:ext cx="12191695" cy="54864"/>
          </a:xfrm>
          <a:prstGeom prst="rect">
            <a:avLst/>
          </a:prstGeom>
          <a:solidFill>
            <a:srgbClr val="A41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571646" y="1645920"/>
            <a:ext cx="1018227" cy="1077218"/>
          </a:xfrm>
          <a:prstGeom prst="rect">
            <a:avLst/>
          </a:prstGeom>
          <a:noFill/>
        </p:spPr>
        <p:txBody>
          <a:bodyPr wrap="none">
            <a:spAutoFit/>
          </a:bodyPr>
          <a:lstStyle/>
          <a:p>
            <a:pPr algn="ctr"/>
            <a:r>
              <a:rPr sz="6400" b="1" dirty="0">
                <a:solidFill>
                  <a:srgbClr val="A4123F"/>
                </a:solidFill>
                <a:latin typeface="Calibri"/>
              </a:rPr>
              <a:t>07</a:t>
            </a:r>
          </a:p>
        </p:txBody>
      </p:sp>
      <p:sp>
        <p:nvSpPr>
          <p:cNvPr id="4" name="TextBox 3"/>
          <p:cNvSpPr txBox="1"/>
          <p:nvPr/>
        </p:nvSpPr>
        <p:spPr>
          <a:xfrm>
            <a:off x="4005993" y="3200400"/>
            <a:ext cx="4149534" cy="584775"/>
          </a:xfrm>
          <a:prstGeom prst="rect">
            <a:avLst/>
          </a:prstGeom>
          <a:noFill/>
        </p:spPr>
        <p:txBody>
          <a:bodyPr wrap="none">
            <a:spAutoFit/>
          </a:bodyPr>
          <a:lstStyle/>
          <a:p>
            <a:pPr algn="ctr"/>
            <a:r>
              <a:rPr sz="3200" b="1" dirty="0">
                <a:latin typeface="Calibri"/>
              </a:rPr>
              <a:t>References</a:t>
            </a:r>
          </a:p>
        </p:txBody>
      </p:sp>
      <p:sp>
        <p:nvSpPr>
          <p:cNvPr id="8" name="Rectangle 7">
            <a:extLst>
              <a:ext uri="{FF2B5EF4-FFF2-40B4-BE49-F238E27FC236}">
                <a16:creationId xmlns:a16="http://schemas.microsoft.com/office/drawing/2014/main" id="{17165227-9F30-9245-CA1E-CEBEE1CD25AF}"/>
              </a:ext>
            </a:extLst>
          </p:cNvPr>
          <p:cNvSpPr/>
          <p:nvPr/>
        </p:nvSpPr>
        <p:spPr>
          <a:xfrm>
            <a:off x="508000" y="295564"/>
            <a:ext cx="11222182" cy="14962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46760" y="1749287"/>
            <a:ext cx="10698480" cy="3170099"/>
          </a:xfrm>
          <a:prstGeom prst="rect">
            <a:avLst/>
          </a:prstGeom>
          <a:noFill/>
        </p:spPr>
        <p:txBody>
          <a:bodyPr wrap="square">
            <a:spAutoFit/>
          </a:bodyPr>
          <a:lstStyle/>
          <a:p>
            <a:r>
              <a:rPr lang="en-US" sz="2000" dirty="0">
                <a:latin typeface="Calibri"/>
              </a:rPr>
              <a:t>[1]  Lu et al. (2024) — GRACE: Graph-enhanced LLM vulnerability detection, J. Sys. &amp; SW</a:t>
            </a:r>
          </a:p>
          <a:p>
            <a:r>
              <a:rPr lang="en-US" sz="2000" dirty="0">
                <a:latin typeface="Calibri"/>
              </a:rPr>
              <a:t>[2]  Yang et al. (2025) — DLAP: DL-augmented LLM prompting, J. Sys. &amp; SW</a:t>
            </a:r>
          </a:p>
          <a:p>
            <a:r>
              <a:rPr lang="en-US" sz="2000" dirty="0">
                <a:latin typeface="Calibri"/>
              </a:rPr>
              <a:t>[3]  Tian et al. (2025) — FUSEVUL: Multi-modal vulnerability detection, Inf. Fusion</a:t>
            </a:r>
          </a:p>
          <a:p>
            <a:r>
              <a:rPr lang="en-US" sz="2000" dirty="0">
                <a:latin typeface="Calibri"/>
              </a:rPr>
              <a:t>[4]  Mao et al. (2025) — LLMVulExp: Explainable vulnerability detection, IEEE TSE</a:t>
            </a:r>
          </a:p>
          <a:p>
            <a:r>
              <a:rPr lang="en-US" sz="2000" dirty="0">
                <a:latin typeface="Calibri"/>
              </a:rPr>
              <a:t>[5]  Liu et al. (2025) — VulACLLM: Lightweight LLM, J. Info. Sec. &amp; Apps.</a:t>
            </a:r>
          </a:p>
          <a:p>
            <a:r>
              <a:rPr lang="en-US" sz="2000" dirty="0">
                <a:latin typeface="Calibri"/>
              </a:rPr>
              <a:t>[6]  Ferrag et al. (2025) — SecureFalcon: Compact LLM for vuln. classification, IEEE TSE</a:t>
            </a:r>
          </a:p>
          <a:p>
            <a:r>
              <a:rPr lang="en-US" sz="2000" dirty="0">
                <a:latin typeface="Calibri"/>
              </a:rPr>
              <a:t>[7]  Qiu et al. (2026) — RLV: Context-aware detection via retrieval, J. Sys. &amp; SW</a:t>
            </a:r>
          </a:p>
          <a:p>
            <a:r>
              <a:rPr lang="en-US" sz="2000" dirty="0">
                <a:latin typeface="Calibri"/>
              </a:rPr>
              <a:t>[8]  Chen et al. (2026) — GPTVD: Static slicing + CoT, Auto. SW Eng.</a:t>
            </a:r>
          </a:p>
          <a:p>
            <a:r>
              <a:rPr lang="en-US" sz="2000" dirty="0">
                <a:latin typeface="Calibri"/>
              </a:rPr>
              <a:t>[9]  Ameh et al. (2025) — C3-VULMAP: Privacy-aware healthcare vuln. dataset, Electronics</a:t>
            </a:r>
          </a:p>
          <a:p>
            <a:r>
              <a:rPr lang="en-US" sz="2000" dirty="0">
                <a:latin typeface="Calibri"/>
              </a:rPr>
              <a:t>[10] NSA/NIST (2017) — Juliet Test Suite for C/C++ v1.3</a:t>
            </a:r>
          </a:p>
        </p:txBody>
      </p:sp>
      <p:sp>
        <p:nvSpPr>
          <p:cNvPr id="5" name="Title 4">
            <a:extLst>
              <a:ext uri="{FF2B5EF4-FFF2-40B4-BE49-F238E27FC236}">
                <a16:creationId xmlns:a16="http://schemas.microsoft.com/office/drawing/2014/main" id="{8502C412-00CB-657E-E885-D6D72CC6566B}"/>
              </a:ext>
            </a:extLst>
          </p:cNvPr>
          <p:cNvSpPr>
            <a:spLocks noGrp="1"/>
          </p:cNvSpPr>
          <p:nvPr>
            <p:ph type="title"/>
          </p:nvPr>
        </p:nvSpPr>
        <p:spPr>
          <a:xfrm>
            <a:off x="1248637" y="757654"/>
            <a:ext cx="9247085" cy="421500"/>
          </a:xfrm>
        </p:spPr>
        <p:txBody>
          <a:bodyPr/>
          <a:lstStyle/>
          <a:p>
            <a:r>
              <a:rPr lang="en-US" dirty="0"/>
              <a:t>Key References (1/2)</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46760" y="1749287"/>
            <a:ext cx="10698480" cy="3170099"/>
          </a:xfrm>
          <a:prstGeom prst="rect">
            <a:avLst/>
          </a:prstGeom>
          <a:noFill/>
        </p:spPr>
        <p:txBody>
          <a:bodyPr wrap="square">
            <a:spAutoFit/>
          </a:bodyPr>
          <a:lstStyle/>
          <a:p>
            <a:r>
              <a:rPr lang="en-US" sz="2000" dirty="0">
                <a:latin typeface="Calibri"/>
              </a:rPr>
              <a:t>[11] Wang et al. (2021) — CodeT5: Identifier-aware Unified Pre-trained Encoder-Decoder, EMNLP</a:t>
            </a:r>
          </a:p>
          <a:p>
            <a:r>
              <a:rPr lang="en-US" sz="2000" dirty="0">
                <a:latin typeface="Calibri"/>
              </a:rPr>
              <a:t>[12] Feng et al. (2020) — CodeBERT: Pre-trained Model for Programming Languages, EMNLP</a:t>
            </a:r>
          </a:p>
          <a:p>
            <a:r>
              <a:rPr lang="en-US" sz="2000" dirty="0">
                <a:latin typeface="Calibri"/>
              </a:rPr>
              <a:t>[13] Guo et al. (2020) — GraphCodeBERT: Pre-training Code Representations with Data Flow</a:t>
            </a:r>
          </a:p>
          <a:p>
            <a:r>
              <a:rPr lang="en-US" sz="2000" dirty="0">
                <a:latin typeface="Calibri"/>
              </a:rPr>
              <a:t>[14] Dettmers et al. (2023) — QLoRA: Efficient Finetuning of Quantized LLMs, NeurIPS</a:t>
            </a:r>
          </a:p>
          <a:p>
            <a:r>
              <a:rPr lang="en-US" sz="2000" dirty="0">
                <a:latin typeface="Calibri"/>
              </a:rPr>
              <a:t>[15] CodeGemma Team (2024) — CodeGemma: Open Code Models</a:t>
            </a:r>
          </a:p>
          <a:p>
            <a:r>
              <a:rPr lang="en-US" sz="2000" dirty="0">
                <a:latin typeface="Calibri"/>
              </a:rPr>
              <a:t>[16] Li et al. (2018) — VulDeePecker: Deep learning-based vulnerability detection, NDSS</a:t>
            </a:r>
          </a:p>
          <a:p>
            <a:r>
              <a:rPr lang="en-US" sz="2000" dirty="0">
                <a:latin typeface="Calibri"/>
              </a:rPr>
              <a:t>[17] Fan et al. (2020) — Big-Vul: Large-scale vulnerability dataset, MSR</a:t>
            </a:r>
          </a:p>
          <a:p>
            <a:r>
              <a:rPr lang="en-US" sz="2000" dirty="0">
                <a:latin typeface="Calibri"/>
              </a:rPr>
              <a:t>[18] Zhou et al. (2019) — Devign: Effective vulnerability identification, NeurIPS</a:t>
            </a:r>
          </a:p>
          <a:p>
            <a:r>
              <a:rPr lang="en-US" sz="2000" dirty="0">
                <a:latin typeface="Calibri"/>
              </a:rPr>
              <a:t>[19] Dolcetti &amp; Iotti (2025) — Dual perspective review on LLMs and code verification, Frontiers</a:t>
            </a:r>
          </a:p>
          <a:p>
            <a:r>
              <a:rPr lang="en-US" sz="2000" dirty="0">
                <a:latin typeface="Calibri"/>
              </a:rPr>
              <a:t>[20] Shaon &amp; Akter (2025) — Modern approaches to software vulnerability detection, Electronics</a:t>
            </a:r>
          </a:p>
        </p:txBody>
      </p:sp>
      <p:sp>
        <p:nvSpPr>
          <p:cNvPr id="5" name="Title 4">
            <a:extLst>
              <a:ext uri="{FF2B5EF4-FFF2-40B4-BE49-F238E27FC236}">
                <a16:creationId xmlns:a16="http://schemas.microsoft.com/office/drawing/2014/main" id="{8502C412-00CB-657E-E885-D6D72CC6566B}"/>
              </a:ext>
            </a:extLst>
          </p:cNvPr>
          <p:cNvSpPr>
            <a:spLocks noGrp="1"/>
          </p:cNvSpPr>
          <p:nvPr>
            <p:ph type="title"/>
          </p:nvPr>
        </p:nvSpPr>
        <p:spPr>
          <a:xfrm>
            <a:off x="1248637" y="757654"/>
            <a:ext cx="9247085" cy="421500"/>
          </a:xfrm>
        </p:spPr>
        <p:txBody>
          <a:bodyPr/>
          <a:lstStyle/>
          <a:p>
            <a:r>
              <a:rPr lang="en-US" dirty="0"/>
              <a:t>Key References (2/2)</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926080"/>
            <a:ext cx="12191695" cy="54864"/>
          </a:xfrm>
          <a:prstGeom prst="rect">
            <a:avLst/>
          </a:prstGeom>
          <a:solidFill>
            <a:srgbClr val="A41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571646" y="1645920"/>
            <a:ext cx="1018227" cy="1077218"/>
          </a:xfrm>
          <a:prstGeom prst="rect">
            <a:avLst/>
          </a:prstGeom>
          <a:noFill/>
        </p:spPr>
        <p:txBody>
          <a:bodyPr wrap="none">
            <a:spAutoFit/>
          </a:bodyPr>
          <a:lstStyle/>
          <a:p>
            <a:pPr algn="ctr"/>
            <a:endParaRPr/>
          </a:p>
        </p:txBody>
      </p:sp>
      <p:sp>
        <p:nvSpPr>
          <p:cNvPr id="4" name="TextBox 3"/>
          <p:cNvSpPr txBox="1"/>
          <p:nvPr/>
        </p:nvSpPr>
        <p:spPr>
          <a:xfrm>
            <a:off x="4005993" y="3200400"/>
            <a:ext cx="4149534" cy="584775"/>
          </a:xfrm>
          <a:prstGeom prst="rect">
            <a:avLst/>
          </a:prstGeom>
          <a:noFill/>
        </p:spPr>
        <p:txBody>
          <a:bodyPr wrap="none">
            <a:spAutoFit/>
          </a:bodyPr>
          <a:lstStyle/>
          <a:p>
            <a:pPr algn="ctr"/>
            <a:r>
              <a:rPr sz="3200" b="1" dirty="0">
                <a:latin typeface="Calibri"/>
              </a:rPr>
              <a:t>Thank You</a:t>
            </a:r>
          </a:p>
        </p:txBody>
      </p:sp>
      <p:sp>
        <p:nvSpPr>
          <p:cNvPr id="8" name="Rectangle 7">
            <a:extLst>
              <a:ext uri="{FF2B5EF4-FFF2-40B4-BE49-F238E27FC236}">
                <a16:creationId xmlns:a16="http://schemas.microsoft.com/office/drawing/2014/main" id="{17165227-9F30-9245-CA1E-CEBEE1CD25AF}"/>
              </a:ext>
            </a:extLst>
          </p:cNvPr>
          <p:cNvSpPr/>
          <p:nvPr/>
        </p:nvSpPr>
        <p:spPr>
          <a:xfrm>
            <a:off x="508000" y="295564"/>
            <a:ext cx="11222182" cy="14962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B8114F"/>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f6dbec8-95a8-4638-9f5f-bd076536645c}" enabled="1" method="Standard" siteId="{5dbf1add-202a-4b8d-815b-bf0fb024e033}" contentBits="0" removed="0"/>
</clbl:labelList>
</file>

<file path=docProps/app.xml><?xml version="1.0" encoding="utf-8"?>
<Properties xmlns="http://schemas.openxmlformats.org/officeDocument/2006/extended-properties" xmlns:vt="http://schemas.openxmlformats.org/officeDocument/2006/docPropsVTypes">
  <TotalTime>821</TotalTime>
  <Words>3424</Words>
  <Application>Microsoft Office PowerPoint</Application>
  <PresentationFormat>Widescreen</PresentationFormat>
  <Paragraphs>416</Paragraphs>
  <Slides>29</Slides>
  <Notes>8</Notes>
  <HiddenSlides>0</HiddenSlides>
  <MMClips>3</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Aptos</vt:lpstr>
      <vt:lpstr>Arial</vt:lpstr>
      <vt:lpstr>Calibri</vt:lpstr>
      <vt:lpstr>Georgia</vt:lpstr>
      <vt:lpstr>Office Theme</vt:lpstr>
      <vt:lpstr>PowerPoint Presentation</vt:lpstr>
      <vt:lpstr>SHARP-LLM </vt:lpstr>
      <vt:lpstr>PowerPoint Presentation</vt:lpstr>
      <vt:lpstr>Why This Matters for Healthcare Software</vt:lpstr>
      <vt:lpstr>What is SHARP-LLM?</vt:lpstr>
      <vt:lpstr>PowerPoint Presentation</vt:lpstr>
      <vt:lpstr>Related Work — Existing Approaches</vt:lpstr>
      <vt:lpstr>Related Work — Existing Approaches</vt:lpstr>
      <vt:lpstr>Three Key Research Gaps</vt:lpstr>
      <vt:lpstr>PowerPoint Presentation</vt:lpstr>
      <vt:lpstr>Problem Statement</vt:lpstr>
      <vt:lpstr>Novelty</vt:lpstr>
      <vt:lpstr>PowerPoint Presentation</vt:lpstr>
      <vt:lpstr>Dataset &amp; Preprocessing</vt:lpstr>
      <vt:lpstr>Models Evaluated</vt:lpstr>
      <vt:lpstr>Training Configuration</vt:lpstr>
      <vt:lpstr>PowerPoint Presentation</vt:lpstr>
      <vt:lpstr>SHARP-LLM Pipeline Overview</vt:lpstr>
      <vt:lpstr>PowerPoint Presentation</vt:lpstr>
      <vt:lpstr>PowerPoint Presentation</vt:lpstr>
      <vt:lpstr>Model Comparison — Full Test Set (22,447 samples)</vt:lpstr>
      <vt:lpstr>Key Experimental Findings</vt:lpstr>
      <vt:lpstr>Per-Class Performance &amp; Error Analysis</vt:lpstr>
      <vt:lpstr>Training Convergence</vt:lpstr>
      <vt:lpstr>What the Paper Does Not Do — And Can Improve</vt:lpstr>
      <vt:lpstr>PowerPoint Presentation</vt:lpstr>
      <vt:lpstr>Key References (1/2)</vt:lpstr>
      <vt:lpstr>Key References (2/2)</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Shreedhara, Basanth Maipady</cp:lastModifiedBy>
  <cp:revision>17</cp:revision>
  <dcterms:created xsi:type="dcterms:W3CDTF">2013-01-27T09:14:16Z</dcterms:created>
  <dcterms:modified xsi:type="dcterms:W3CDTF">2026-05-17T09:13:51Z</dcterms:modified>
  <cp:category/>
</cp:coreProperties>
</file>